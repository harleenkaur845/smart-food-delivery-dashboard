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1"/>
    <p:restoredTop sz="94610"/>
  </p:normalViewPr>
  <p:slideViewPr>
    <p:cSldViewPr snapToGrid="0" snapToObjects="1">
      <p:cViewPr varScale="1">
        <p:scale>
          <a:sx n="70" d="100"/>
          <a:sy n="70" d="100"/>
        </p:scale>
        <p:origin x="-720" y="-112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3.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6.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8.png"/><Relationship Id="rId5" Type="http://schemas.openxmlformats.org/officeDocument/2006/relationships/image" Target="../media/image23.png"/><Relationship Id="rId10" Type="http://schemas.openxmlformats.org/officeDocument/2006/relationships/image" Target="../media/image27.png"/><Relationship Id="rId4" Type="http://schemas.openxmlformats.org/officeDocument/2006/relationships/image" Target="../media/image22.png"/><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9.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7.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6.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5.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8961120" y="-2377440"/>
            <a:ext cx="5943600" cy="5943600"/>
          </a:xfrm>
          <a:prstGeom prst="ellipse">
            <a:avLst/>
          </a:prstGeom>
          <a:solidFill>
            <a:srgbClr val="E8511F">
              <a:alpha val="18000"/>
            </a:srgbClr>
          </a:solidFill>
          <a:ln/>
        </p:spPr>
      </p:sp>
      <p:sp>
        <p:nvSpPr>
          <p:cNvPr id="3" name="Shape 1"/>
          <p:cNvSpPr/>
          <p:nvPr/>
        </p:nvSpPr>
        <p:spPr>
          <a:xfrm>
            <a:off x="-2194560" y="4389120"/>
            <a:ext cx="5029200" cy="5029200"/>
          </a:xfrm>
          <a:prstGeom prst="ellipse">
            <a:avLst/>
          </a:prstGeom>
          <a:solidFill>
            <a:srgbClr val="FF6B35">
              <a:alpha val="12000"/>
            </a:srgbClr>
          </a:solidFill>
          <a:ln/>
        </p:spPr>
      </p:sp>
      <p:sp>
        <p:nvSpPr>
          <p:cNvPr id="4" name="Shape 2"/>
          <p:cNvSpPr/>
          <p:nvPr/>
        </p:nvSpPr>
        <p:spPr>
          <a:xfrm>
            <a:off x="5730088" y="685800"/>
            <a:ext cx="731520" cy="731520"/>
          </a:xfrm>
          <a:prstGeom prst="ellipse">
            <a:avLst/>
          </a:prstGeom>
          <a:solidFill>
            <a:srgbClr val="FF6B35"/>
          </a:solidFill>
          <a:ln/>
        </p:spPr>
      </p:sp>
      <p:pic>
        <p:nvPicPr>
          <p:cNvPr id="5" name="Image 0" descr="preencoded.png"/>
          <p:cNvPicPr>
            <a:picLocks noChangeAspect="1"/>
          </p:cNvPicPr>
          <p:nvPr/>
        </p:nvPicPr>
        <p:blipFill>
          <a:blip r:embed="rId3"/>
          <a:stretch>
            <a:fillRect/>
          </a:stretch>
        </p:blipFill>
        <p:spPr>
          <a:xfrm>
            <a:off x="5891022" y="846734"/>
            <a:ext cx="409651" cy="409651"/>
          </a:xfrm>
          <a:prstGeom prst="rect">
            <a:avLst/>
          </a:prstGeom>
        </p:spPr>
      </p:pic>
      <p:sp>
        <p:nvSpPr>
          <p:cNvPr id="6" name="Text 3"/>
          <p:cNvSpPr/>
          <p:nvPr/>
        </p:nvSpPr>
        <p:spPr>
          <a:xfrm>
            <a:off x="0" y="1691640"/>
            <a:ext cx="12191695" cy="365760"/>
          </a:xfrm>
          <a:prstGeom prst="rect">
            <a:avLst/>
          </a:prstGeom>
          <a:noFill/>
          <a:ln/>
        </p:spPr>
        <p:txBody>
          <a:bodyPr wrap="square" rtlCol="0" anchor="ctr"/>
          <a:lstStyle/>
          <a:p>
            <a:pPr marL="0" indent="0" algn="ctr">
              <a:buNone/>
            </a:pPr>
            <a:r>
              <a:rPr lang="en-US" sz="1400" b="1" kern="0" spc="300" dirty="0">
                <a:solidFill>
                  <a:srgbClr val="FF6B35"/>
                </a:solidFill>
                <a:latin typeface="Calibri" pitchFamily="34" charset="0"/>
                <a:ea typeface="Calibri" pitchFamily="34" charset="-122"/>
                <a:cs typeface="Calibri" pitchFamily="34" charset="-120"/>
              </a:rPr>
              <a:t>DAV UNIVERSITY</a:t>
            </a:r>
            <a:endParaRPr lang="en-US" sz="1400" dirty="0"/>
          </a:p>
        </p:txBody>
      </p:sp>
      <p:sp>
        <p:nvSpPr>
          <p:cNvPr id="7" name="Text 4"/>
          <p:cNvSpPr/>
          <p:nvPr/>
        </p:nvSpPr>
        <p:spPr>
          <a:xfrm>
            <a:off x="731520" y="2148840"/>
            <a:ext cx="10728655" cy="1554480"/>
          </a:xfrm>
          <a:prstGeom prst="rect">
            <a:avLst/>
          </a:prstGeom>
          <a:noFill/>
          <a:ln/>
        </p:spPr>
        <p:txBody>
          <a:bodyPr wrap="square" rtlCol="0" anchor="ctr"/>
          <a:lstStyle/>
          <a:p>
            <a:pPr marL="0" indent="0" algn="ctr">
              <a:lnSpc>
                <a:spcPct val="108000"/>
              </a:lnSpc>
              <a:buNone/>
            </a:pPr>
            <a:r>
              <a:rPr lang="en-US" sz="4000" b="1" dirty="0">
                <a:solidFill>
                  <a:srgbClr val="FFFFFF"/>
                </a:solidFill>
                <a:latin typeface="Cambria" pitchFamily="34" charset="0"/>
                <a:ea typeface="Cambria" pitchFamily="34" charset="-122"/>
                <a:cs typeface="Cambria" pitchFamily="34" charset="-120"/>
              </a:rPr>
              <a:t>Smart Food Delivery &amp;
</a:t>
            </a:r>
            <a:r>
              <a:rPr lang="en-US" sz="4000" b="1" dirty="0">
                <a:solidFill>
                  <a:srgbClr val="FF6B35"/>
                </a:solidFill>
                <a:latin typeface="Cambria" pitchFamily="34" charset="0"/>
                <a:ea typeface="Cambria" pitchFamily="34" charset="-122"/>
                <a:cs typeface="Cambria" pitchFamily="34" charset="-120"/>
              </a:rPr>
              <a:t>Restaurant Insight Dashboard</a:t>
            </a:r>
            <a:endParaRPr lang="en-US" sz="4000" dirty="0"/>
          </a:p>
        </p:txBody>
      </p:sp>
      <p:sp>
        <p:nvSpPr>
          <p:cNvPr id="8" name="Text 5"/>
          <p:cNvSpPr/>
          <p:nvPr/>
        </p:nvSpPr>
        <p:spPr>
          <a:xfrm>
            <a:off x="1097280" y="3703320"/>
            <a:ext cx="9997135" cy="411480"/>
          </a:xfrm>
          <a:prstGeom prst="rect">
            <a:avLst/>
          </a:prstGeom>
          <a:noFill/>
          <a:ln/>
        </p:spPr>
        <p:txBody>
          <a:bodyPr wrap="square" rtlCol="0" anchor="ctr"/>
          <a:lstStyle/>
          <a:p>
            <a:pPr marL="0" indent="0" algn="ctr">
              <a:buNone/>
            </a:pPr>
            <a:r>
              <a:rPr lang="en-US" sz="1500" i="1" dirty="0">
                <a:solidFill>
                  <a:srgbClr val="C9C4BE"/>
                </a:solidFill>
                <a:latin typeface="Calibri" pitchFamily="34" charset="0"/>
                <a:ea typeface="Calibri" pitchFamily="34" charset="-122"/>
                <a:cs typeface="Calibri" pitchFamily="34" charset="-120"/>
              </a:rPr>
              <a:t>A Data-Driven Analytics Dashboard for Restaurant Performance &amp; Delivery Insights</a:t>
            </a:r>
            <a:endParaRPr lang="en-US" sz="1500" dirty="0"/>
          </a:p>
        </p:txBody>
      </p:sp>
      <p:sp>
        <p:nvSpPr>
          <p:cNvPr id="9" name="Text 6"/>
          <p:cNvSpPr/>
          <p:nvPr/>
        </p:nvSpPr>
        <p:spPr>
          <a:xfrm>
            <a:off x="731520" y="4892040"/>
            <a:ext cx="2407844" cy="274320"/>
          </a:xfrm>
          <a:prstGeom prst="rect">
            <a:avLst/>
          </a:prstGeom>
          <a:noFill/>
          <a:ln/>
        </p:spPr>
        <p:txBody>
          <a:bodyPr wrap="square" rtlCol="0" anchor="ctr"/>
          <a:lstStyle/>
          <a:p>
            <a:pPr marL="0" indent="0" algn="ctr">
              <a:buNone/>
            </a:pPr>
            <a:r>
              <a:rPr lang="en-US" sz="1000" b="1" kern="0" spc="120" dirty="0">
                <a:solidFill>
                  <a:srgbClr val="FF6B35"/>
                </a:solidFill>
                <a:latin typeface="Calibri" pitchFamily="34" charset="0"/>
                <a:ea typeface="Calibri" pitchFamily="34" charset="-122"/>
                <a:cs typeface="Calibri" pitchFamily="34" charset="-120"/>
              </a:rPr>
              <a:t>STUDENT</a:t>
            </a:r>
            <a:endParaRPr lang="en-US" sz="1000" dirty="0"/>
          </a:p>
        </p:txBody>
      </p:sp>
      <p:sp>
        <p:nvSpPr>
          <p:cNvPr id="10" name="Text 7"/>
          <p:cNvSpPr/>
          <p:nvPr/>
        </p:nvSpPr>
        <p:spPr>
          <a:xfrm>
            <a:off x="731520" y="5184648"/>
            <a:ext cx="2407844"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[Student Name]</a:t>
            </a:r>
            <a:endParaRPr lang="en-US" sz="1300" dirty="0"/>
          </a:p>
        </p:txBody>
      </p:sp>
      <p:sp>
        <p:nvSpPr>
          <p:cNvPr id="11" name="Text 8"/>
          <p:cNvSpPr/>
          <p:nvPr/>
        </p:nvSpPr>
        <p:spPr>
          <a:xfrm>
            <a:off x="3413684" y="4892040"/>
            <a:ext cx="2407844" cy="274320"/>
          </a:xfrm>
          <a:prstGeom prst="rect">
            <a:avLst/>
          </a:prstGeom>
          <a:noFill/>
          <a:ln/>
        </p:spPr>
        <p:txBody>
          <a:bodyPr wrap="square" rtlCol="0" anchor="ctr"/>
          <a:lstStyle/>
          <a:p>
            <a:pPr marL="0" indent="0" algn="ctr">
              <a:buNone/>
            </a:pPr>
            <a:r>
              <a:rPr lang="en-US" sz="1000" b="1" kern="0" spc="120" dirty="0">
                <a:solidFill>
                  <a:srgbClr val="FF6B35"/>
                </a:solidFill>
                <a:latin typeface="Calibri" pitchFamily="34" charset="0"/>
                <a:ea typeface="Calibri" pitchFamily="34" charset="-122"/>
                <a:cs typeface="Calibri" pitchFamily="34" charset="-120"/>
              </a:rPr>
              <a:t>COURSE</a:t>
            </a:r>
            <a:endParaRPr lang="en-US" sz="1000" dirty="0"/>
          </a:p>
        </p:txBody>
      </p:sp>
      <p:sp>
        <p:nvSpPr>
          <p:cNvPr id="12" name="Text 9"/>
          <p:cNvSpPr/>
          <p:nvPr/>
        </p:nvSpPr>
        <p:spPr>
          <a:xfrm>
            <a:off x="3413684" y="5184648"/>
            <a:ext cx="2407844"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[Course Name]</a:t>
            </a:r>
            <a:endParaRPr lang="en-US" sz="1300" dirty="0"/>
          </a:p>
        </p:txBody>
      </p:sp>
      <p:sp>
        <p:nvSpPr>
          <p:cNvPr id="13" name="Text 10"/>
          <p:cNvSpPr/>
          <p:nvPr/>
        </p:nvSpPr>
        <p:spPr>
          <a:xfrm>
            <a:off x="6095848" y="4892040"/>
            <a:ext cx="2407844" cy="274320"/>
          </a:xfrm>
          <a:prstGeom prst="rect">
            <a:avLst/>
          </a:prstGeom>
          <a:noFill/>
          <a:ln/>
        </p:spPr>
        <p:txBody>
          <a:bodyPr wrap="square" rtlCol="0" anchor="ctr"/>
          <a:lstStyle/>
          <a:p>
            <a:pPr marL="0" indent="0" algn="ctr">
              <a:buNone/>
            </a:pPr>
            <a:r>
              <a:rPr lang="en-US" sz="1000" b="1" kern="0" spc="120" dirty="0">
                <a:solidFill>
                  <a:srgbClr val="FF6B35"/>
                </a:solidFill>
                <a:latin typeface="Calibri" pitchFamily="34" charset="0"/>
                <a:ea typeface="Calibri" pitchFamily="34" charset="-122"/>
                <a:cs typeface="Calibri" pitchFamily="34" charset="-120"/>
              </a:rPr>
              <a:t>SESSION</a:t>
            </a:r>
            <a:endParaRPr lang="en-US" sz="1000" dirty="0"/>
          </a:p>
        </p:txBody>
      </p:sp>
      <p:sp>
        <p:nvSpPr>
          <p:cNvPr id="14" name="Text 11"/>
          <p:cNvSpPr/>
          <p:nvPr/>
        </p:nvSpPr>
        <p:spPr>
          <a:xfrm>
            <a:off x="6095848" y="5184648"/>
            <a:ext cx="2407844"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[Session, e.g. 2022–2026]</a:t>
            </a:r>
            <a:endParaRPr lang="en-US" sz="1300" dirty="0"/>
          </a:p>
        </p:txBody>
      </p:sp>
      <p:sp>
        <p:nvSpPr>
          <p:cNvPr id="15" name="Text 12"/>
          <p:cNvSpPr/>
          <p:nvPr/>
        </p:nvSpPr>
        <p:spPr>
          <a:xfrm>
            <a:off x="8778011" y="4892040"/>
            <a:ext cx="2407844" cy="274320"/>
          </a:xfrm>
          <a:prstGeom prst="rect">
            <a:avLst/>
          </a:prstGeom>
          <a:noFill/>
          <a:ln/>
        </p:spPr>
        <p:txBody>
          <a:bodyPr wrap="square" rtlCol="0" anchor="ctr"/>
          <a:lstStyle/>
          <a:p>
            <a:pPr marL="0" indent="0" algn="ctr">
              <a:buNone/>
            </a:pPr>
            <a:r>
              <a:rPr lang="en-US" sz="1000" b="1" kern="0" spc="120" dirty="0">
                <a:solidFill>
                  <a:srgbClr val="FF6B35"/>
                </a:solidFill>
                <a:latin typeface="Calibri" pitchFamily="34" charset="0"/>
                <a:ea typeface="Calibri" pitchFamily="34" charset="-122"/>
                <a:cs typeface="Calibri" pitchFamily="34" charset="-120"/>
              </a:rPr>
              <a:t>TRAINING PARTNER</a:t>
            </a:r>
            <a:endParaRPr lang="en-US" sz="1000" dirty="0"/>
          </a:p>
        </p:txBody>
      </p:sp>
      <p:sp>
        <p:nvSpPr>
          <p:cNvPr id="16" name="Text 13"/>
          <p:cNvSpPr/>
          <p:nvPr/>
        </p:nvSpPr>
        <p:spPr>
          <a:xfrm>
            <a:off x="8778011" y="5184648"/>
            <a:ext cx="2407844"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O7 Services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F6B35"/>
          </a:solidFill>
          <a:ln/>
        </p:spPr>
      </p:sp>
      <p:pic>
        <p:nvPicPr>
          <p:cNvPr id="3"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4" name="Text 1"/>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1A1A1A"/>
                </a:solidFill>
                <a:latin typeface="Cambria" pitchFamily="34" charset="0"/>
                <a:ea typeface="Cambria" pitchFamily="34" charset="-122"/>
                <a:cs typeface="Cambria" pitchFamily="34" charset="-120"/>
              </a:rPr>
              <a:t>Introduction</a:t>
            </a:r>
            <a:endParaRPr lang="en-US" sz="3000" dirty="0"/>
          </a:p>
        </p:txBody>
      </p:sp>
      <p:sp>
        <p:nvSpPr>
          <p:cNvPr id="5" name="Text 2"/>
          <p:cNvSpPr/>
          <p:nvPr/>
        </p:nvSpPr>
        <p:spPr>
          <a:xfrm>
            <a:off x="548640" y="1600200"/>
            <a:ext cx="5029200" cy="4206240"/>
          </a:xfrm>
          <a:prstGeom prst="rect">
            <a:avLst/>
          </a:prstGeom>
          <a:noFill/>
          <a:ln/>
        </p:spPr>
        <p:txBody>
          <a:bodyPr wrap="square" rtlCol="0" anchor="t"/>
          <a:lstStyle/>
          <a:p>
            <a:pPr marL="0" indent="0" algn="l">
              <a:lnSpc>
                <a:spcPct val="135000"/>
              </a:lnSpc>
              <a:buNone/>
            </a:pPr>
            <a:r>
              <a:rPr lang="en-US" sz="1450" dirty="0">
                <a:solidFill>
                  <a:srgbClr val="1A1A1A"/>
                </a:solidFill>
                <a:latin typeface="Calibri" pitchFamily="34" charset="0"/>
                <a:ea typeface="Calibri" pitchFamily="34" charset="-122"/>
                <a:cs typeface="Calibri" pitchFamily="34" charset="-120"/>
              </a:rPr>
              <a:t>Online food delivery has become part of everyday life in Indian cities. As platforms handle thousands of restaurants and orders every day, the data they generate holds valuable clues about customer behaviour, restaurant performance, and delivery efficiency.</a:t>
            </a:r>
            <a:endParaRPr lang="en-US" sz="1450" dirty="0"/>
          </a:p>
        </p:txBody>
      </p:sp>
      <p:sp>
        <p:nvSpPr>
          <p:cNvPr id="6" name="Shape 3"/>
          <p:cNvSpPr/>
          <p:nvPr/>
        </p:nvSpPr>
        <p:spPr>
          <a:xfrm>
            <a:off x="6035040" y="1600200"/>
            <a:ext cx="457200" cy="457200"/>
          </a:xfrm>
          <a:prstGeom prst="ellipse">
            <a:avLst/>
          </a:prstGeom>
          <a:solidFill>
            <a:srgbClr val="FF6B35"/>
          </a:solidFill>
          <a:ln/>
        </p:spPr>
      </p:sp>
      <p:pic>
        <p:nvPicPr>
          <p:cNvPr id="7" name="Image 1" descr="preencoded.png"/>
          <p:cNvPicPr>
            <a:picLocks noChangeAspect="1"/>
          </p:cNvPicPr>
          <p:nvPr/>
        </p:nvPicPr>
        <p:blipFill>
          <a:blip r:embed="rId4"/>
          <a:stretch>
            <a:fillRect/>
          </a:stretch>
        </p:blipFill>
        <p:spPr>
          <a:xfrm>
            <a:off x="6135624" y="1700784"/>
            <a:ext cx="256032" cy="256032"/>
          </a:xfrm>
          <a:prstGeom prst="rect">
            <a:avLst/>
          </a:prstGeom>
        </p:spPr>
      </p:pic>
      <p:sp>
        <p:nvSpPr>
          <p:cNvPr id="8" name="Text 4"/>
          <p:cNvSpPr/>
          <p:nvPr/>
        </p:nvSpPr>
        <p:spPr>
          <a:xfrm>
            <a:off x="6693408" y="1572768"/>
            <a:ext cx="4919472"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A Fast-Growing Industry</a:t>
            </a:r>
            <a:endParaRPr lang="en-US" sz="1450" dirty="0"/>
          </a:p>
        </p:txBody>
      </p:sp>
      <p:sp>
        <p:nvSpPr>
          <p:cNvPr id="9" name="Text 5"/>
          <p:cNvSpPr/>
          <p:nvPr/>
        </p:nvSpPr>
        <p:spPr>
          <a:xfrm>
            <a:off x="6693408" y="1847088"/>
            <a:ext cx="4919472"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Online food delivery services are expanding rapidly across Indian cities, generating massive amounts of daily data.</a:t>
            </a:r>
            <a:endParaRPr lang="en-US" sz="1150" dirty="0"/>
          </a:p>
        </p:txBody>
      </p:sp>
      <p:sp>
        <p:nvSpPr>
          <p:cNvPr id="10" name="Shape 6"/>
          <p:cNvSpPr/>
          <p:nvPr/>
        </p:nvSpPr>
        <p:spPr>
          <a:xfrm>
            <a:off x="6035040" y="3017520"/>
            <a:ext cx="457200" cy="457200"/>
          </a:xfrm>
          <a:prstGeom prst="ellipse">
            <a:avLst/>
          </a:prstGeom>
          <a:solidFill>
            <a:srgbClr val="FF6B35"/>
          </a:solidFill>
          <a:ln/>
        </p:spPr>
      </p:sp>
      <p:pic>
        <p:nvPicPr>
          <p:cNvPr id="11" name="Image 2" descr="preencoded.png"/>
          <p:cNvPicPr>
            <a:picLocks noChangeAspect="1"/>
          </p:cNvPicPr>
          <p:nvPr/>
        </p:nvPicPr>
        <p:blipFill>
          <a:blip r:embed="rId5"/>
          <a:stretch>
            <a:fillRect/>
          </a:stretch>
        </p:blipFill>
        <p:spPr>
          <a:xfrm>
            <a:off x="6135624" y="3118104"/>
            <a:ext cx="256032" cy="256032"/>
          </a:xfrm>
          <a:prstGeom prst="rect">
            <a:avLst/>
          </a:prstGeom>
        </p:spPr>
      </p:pic>
      <p:sp>
        <p:nvSpPr>
          <p:cNvPr id="12" name="Text 7"/>
          <p:cNvSpPr/>
          <p:nvPr/>
        </p:nvSpPr>
        <p:spPr>
          <a:xfrm>
            <a:off x="6693408" y="2990088"/>
            <a:ext cx="4919472"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The Value of Data Analysis</a:t>
            </a:r>
            <a:endParaRPr lang="en-US" sz="1450" dirty="0"/>
          </a:p>
        </p:txBody>
      </p:sp>
      <p:sp>
        <p:nvSpPr>
          <p:cNvPr id="13" name="Text 8"/>
          <p:cNvSpPr/>
          <p:nvPr/>
        </p:nvSpPr>
        <p:spPr>
          <a:xfrm>
            <a:off x="6693408" y="3264408"/>
            <a:ext cx="4919472"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Restaurant ratings, pricing, and delivery data hold patterns that are easy to miss without proper analysis.</a:t>
            </a:r>
            <a:endParaRPr lang="en-US" sz="1150" dirty="0"/>
          </a:p>
        </p:txBody>
      </p:sp>
      <p:sp>
        <p:nvSpPr>
          <p:cNvPr id="14" name="Shape 9"/>
          <p:cNvSpPr/>
          <p:nvPr/>
        </p:nvSpPr>
        <p:spPr>
          <a:xfrm>
            <a:off x="6035040" y="4434840"/>
            <a:ext cx="457200" cy="457200"/>
          </a:xfrm>
          <a:prstGeom prst="ellipse">
            <a:avLst/>
          </a:prstGeom>
          <a:solidFill>
            <a:srgbClr val="FF6B35"/>
          </a:solidFill>
          <a:ln/>
        </p:spPr>
      </p:sp>
      <p:pic>
        <p:nvPicPr>
          <p:cNvPr id="15" name="Image 3" descr="preencoded.png"/>
          <p:cNvPicPr>
            <a:picLocks noChangeAspect="1"/>
          </p:cNvPicPr>
          <p:nvPr/>
        </p:nvPicPr>
        <p:blipFill>
          <a:blip r:embed="rId3"/>
          <a:stretch>
            <a:fillRect/>
          </a:stretch>
        </p:blipFill>
        <p:spPr>
          <a:xfrm>
            <a:off x="6135624" y="4535424"/>
            <a:ext cx="256032" cy="256032"/>
          </a:xfrm>
          <a:prstGeom prst="rect">
            <a:avLst/>
          </a:prstGeom>
        </p:spPr>
      </p:pic>
      <p:sp>
        <p:nvSpPr>
          <p:cNvPr id="16" name="Text 10"/>
          <p:cNvSpPr/>
          <p:nvPr/>
        </p:nvSpPr>
        <p:spPr>
          <a:xfrm>
            <a:off x="6693408" y="4407408"/>
            <a:ext cx="4919472"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Dashboards Aid Decisions</a:t>
            </a:r>
            <a:endParaRPr lang="en-US" sz="1450" dirty="0"/>
          </a:p>
        </p:txBody>
      </p:sp>
      <p:sp>
        <p:nvSpPr>
          <p:cNvPr id="17" name="Text 11"/>
          <p:cNvSpPr/>
          <p:nvPr/>
        </p:nvSpPr>
        <p:spPr>
          <a:xfrm>
            <a:off x="6693408" y="4681728"/>
            <a:ext cx="4919472"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A well-built dashboard turns raw numbers into clear insights that support faster, smarter business decisions.</a:t>
            </a:r>
            <a:endParaRPr lang="en-US" sz="1150" dirty="0"/>
          </a:p>
        </p:txBody>
      </p:sp>
      <p:sp>
        <p:nvSpPr>
          <p:cNvPr id="18" name="Text 12"/>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A66"/>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19" name="Text 13"/>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6A6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F6B35"/>
          </a:solidFill>
          <a:ln/>
        </p:spPr>
      </p:sp>
      <p:pic>
        <p:nvPicPr>
          <p:cNvPr id="3"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4" name="Text 1"/>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1A1A1A"/>
                </a:solidFill>
                <a:latin typeface="Cambria" pitchFamily="34" charset="0"/>
                <a:ea typeface="Cambria" pitchFamily="34" charset="-122"/>
                <a:cs typeface="Cambria" pitchFamily="34" charset="-120"/>
              </a:rPr>
              <a:t>Training Partner</a:t>
            </a:r>
            <a:endParaRPr lang="en-US" sz="3000" dirty="0"/>
          </a:p>
        </p:txBody>
      </p:sp>
      <p:sp>
        <p:nvSpPr>
          <p:cNvPr id="5" name="Shape 2"/>
          <p:cNvSpPr/>
          <p:nvPr/>
        </p:nvSpPr>
        <p:spPr>
          <a:xfrm>
            <a:off x="548640" y="1691640"/>
            <a:ext cx="3291840" cy="3291840"/>
          </a:xfrm>
          <a:prstGeom prst="roundRect">
            <a:avLst>
              <a:gd name="adj" fmla="val 2500"/>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6" name="Shape 3"/>
          <p:cNvSpPr/>
          <p:nvPr/>
        </p:nvSpPr>
        <p:spPr>
          <a:xfrm>
            <a:off x="822960" y="1965960"/>
            <a:ext cx="2743200" cy="2011680"/>
          </a:xfrm>
          <a:prstGeom prst="roundRect">
            <a:avLst>
              <a:gd name="adj" fmla="val 2727"/>
            </a:avLst>
          </a:prstGeom>
          <a:solidFill>
            <a:srgbClr val="F4F1EC"/>
          </a:solidFill>
          <a:ln w="15240">
            <a:solidFill>
              <a:srgbClr val="FF6B35"/>
            </a:solidFill>
            <a:prstDash val="dash"/>
          </a:ln>
        </p:spPr>
      </p:sp>
      <p:sp>
        <p:nvSpPr>
          <p:cNvPr id="7" name="Text 4"/>
          <p:cNvSpPr/>
          <p:nvPr/>
        </p:nvSpPr>
        <p:spPr>
          <a:xfrm>
            <a:off x="822960" y="2606040"/>
            <a:ext cx="2743200" cy="731520"/>
          </a:xfrm>
          <a:prstGeom prst="rect">
            <a:avLst/>
          </a:prstGeom>
          <a:noFill/>
          <a:ln/>
        </p:spPr>
        <p:txBody>
          <a:bodyPr wrap="square" rtlCol="0" anchor="ctr"/>
          <a:lstStyle/>
          <a:p>
            <a:pPr marL="0" indent="0" algn="ctr">
              <a:buNone/>
            </a:pPr>
            <a:endParaRPr lang="en-US" sz="1300" dirty="0"/>
          </a:p>
        </p:txBody>
      </p:sp>
      <p:sp>
        <p:nvSpPr>
          <p:cNvPr id="8" name="Text 5"/>
          <p:cNvSpPr/>
          <p:nvPr/>
        </p:nvSpPr>
        <p:spPr>
          <a:xfrm>
            <a:off x="548640" y="4160520"/>
            <a:ext cx="3291840" cy="365760"/>
          </a:xfrm>
          <a:prstGeom prst="rect">
            <a:avLst/>
          </a:prstGeom>
          <a:noFill/>
          <a:ln/>
        </p:spPr>
        <p:txBody>
          <a:bodyPr wrap="square" rtlCol="0" anchor="ctr"/>
          <a:lstStyle/>
          <a:p>
            <a:pPr marL="0" indent="0" algn="ctr">
              <a:buNone/>
            </a:pPr>
            <a:r>
              <a:rPr lang="en-US" sz="1200" i="1" dirty="0">
                <a:solidFill>
                  <a:srgbClr val="6E6A66"/>
                </a:solidFill>
                <a:latin typeface="Calibri" pitchFamily="34" charset="0"/>
                <a:ea typeface="Calibri" pitchFamily="34" charset="-122"/>
                <a:cs typeface="Calibri" pitchFamily="34" charset="-120"/>
              </a:rPr>
              <a:t>Training &amp; Project Partner</a:t>
            </a:r>
            <a:endParaRPr lang="en-US" sz="1200" dirty="0"/>
          </a:p>
        </p:txBody>
      </p:sp>
      <p:sp>
        <p:nvSpPr>
          <p:cNvPr id="9" name="Text 6"/>
          <p:cNvSpPr/>
          <p:nvPr/>
        </p:nvSpPr>
        <p:spPr>
          <a:xfrm>
            <a:off x="4160520" y="1691640"/>
            <a:ext cx="7452360" cy="1005840"/>
          </a:xfrm>
          <a:prstGeom prst="rect">
            <a:avLst/>
          </a:prstGeom>
          <a:noFill/>
          <a:ln/>
        </p:spPr>
        <p:txBody>
          <a:bodyPr wrap="square" rtlCol="0" anchor="t"/>
          <a:lstStyle/>
          <a:p>
            <a:pPr marL="0" indent="0" algn="l">
              <a:lnSpc>
                <a:spcPct val="130000"/>
              </a:lnSpc>
              <a:buNone/>
            </a:pPr>
            <a:r>
              <a:rPr lang="en-US" sz="1350" dirty="0">
                <a:solidFill>
                  <a:srgbClr val="1A1A1A"/>
                </a:solidFill>
                <a:latin typeface="Calibri" pitchFamily="34" charset="0"/>
                <a:ea typeface="Calibri" pitchFamily="34" charset="-122"/>
                <a:cs typeface="Calibri" pitchFamily="34" charset="-120"/>
              </a:rPr>
              <a:t>O7 Services works with </a:t>
            </a:r>
            <a:r>
              <a:rPr lang="en-US" sz="1350" dirty="0" smtClean="0">
                <a:solidFill>
                  <a:srgbClr val="1A1A1A"/>
                </a:solidFill>
                <a:latin typeface="Calibri" pitchFamily="34" charset="0"/>
                <a:ea typeface="Calibri" pitchFamily="34" charset="-122"/>
                <a:cs typeface="Calibri" pitchFamily="34" charset="-120"/>
              </a:rPr>
              <a:t> </a:t>
            </a:r>
            <a:r>
              <a:rPr lang="en-US" sz="1350" dirty="0">
                <a:solidFill>
                  <a:srgbClr val="1A1A1A"/>
                </a:solidFill>
                <a:latin typeface="Calibri" pitchFamily="34" charset="0"/>
                <a:ea typeface="Calibri" pitchFamily="34" charset="-122"/>
                <a:cs typeface="Calibri" pitchFamily="34" charset="-120"/>
              </a:rPr>
              <a:t>students to deliver hands-on industrial training and guided project development, helping learners turn classroom concepts into real, portfolio-ready work.</a:t>
            </a:r>
            <a:endParaRPr lang="en-US" sz="1350" dirty="0"/>
          </a:p>
        </p:txBody>
      </p:sp>
      <p:sp>
        <p:nvSpPr>
          <p:cNvPr id="10" name="Shape 7"/>
          <p:cNvSpPr/>
          <p:nvPr/>
        </p:nvSpPr>
        <p:spPr>
          <a:xfrm>
            <a:off x="4160520" y="2880360"/>
            <a:ext cx="457200" cy="457200"/>
          </a:xfrm>
          <a:prstGeom prst="ellipse">
            <a:avLst/>
          </a:prstGeom>
          <a:solidFill>
            <a:srgbClr val="FF6B35"/>
          </a:solidFill>
          <a:ln/>
        </p:spPr>
      </p:sp>
      <p:pic>
        <p:nvPicPr>
          <p:cNvPr id="11" name="Image 1" descr="preencoded.png"/>
          <p:cNvPicPr>
            <a:picLocks noChangeAspect="1"/>
          </p:cNvPicPr>
          <p:nvPr/>
        </p:nvPicPr>
        <p:blipFill>
          <a:blip r:embed="rId4"/>
          <a:stretch>
            <a:fillRect/>
          </a:stretch>
        </p:blipFill>
        <p:spPr>
          <a:xfrm>
            <a:off x="4261104" y="2980944"/>
            <a:ext cx="256032" cy="256032"/>
          </a:xfrm>
          <a:prstGeom prst="rect">
            <a:avLst/>
          </a:prstGeom>
        </p:spPr>
      </p:pic>
      <p:sp>
        <p:nvSpPr>
          <p:cNvPr id="12" name="Text 8"/>
          <p:cNvSpPr/>
          <p:nvPr/>
        </p:nvSpPr>
        <p:spPr>
          <a:xfrm>
            <a:off x="4818888" y="2852928"/>
            <a:ext cx="6748272"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Industrial Training</a:t>
            </a:r>
            <a:endParaRPr lang="en-US" sz="1450" dirty="0"/>
          </a:p>
        </p:txBody>
      </p:sp>
      <p:sp>
        <p:nvSpPr>
          <p:cNvPr id="13" name="Text 9"/>
          <p:cNvSpPr/>
          <p:nvPr/>
        </p:nvSpPr>
        <p:spPr>
          <a:xfrm>
            <a:off x="4818888" y="3127248"/>
            <a:ext cx="6748272"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Structured, hands-on training programs that build real-world technical skills.</a:t>
            </a:r>
            <a:endParaRPr lang="en-US" sz="1150" dirty="0"/>
          </a:p>
        </p:txBody>
      </p:sp>
      <p:sp>
        <p:nvSpPr>
          <p:cNvPr id="14" name="Shape 10"/>
          <p:cNvSpPr/>
          <p:nvPr/>
        </p:nvSpPr>
        <p:spPr>
          <a:xfrm>
            <a:off x="4160520" y="3931920"/>
            <a:ext cx="457200" cy="457200"/>
          </a:xfrm>
          <a:prstGeom prst="ellipse">
            <a:avLst/>
          </a:prstGeom>
          <a:solidFill>
            <a:srgbClr val="FF6B35"/>
          </a:solidFill>
          <a:ln/>
        </p:spPr>
      </p:sp>
      <p:pic>
        <p:nvPicPr>
          <p:cNvPr id="15" name="Image 2" descr="preencoded.png"/>
          <p:cNvPicPr>
            <a:picLocks noChangeAspect="1"/>
          </p:cNvPicPr>
          <p:nvPr/>
        </p:nvPicPr>
        <p:blipFill>
          <a:blip r:embed="rId5"/>
          <a:stretch>
            <a:fillRect/>
          </a:stretch>
        </p:blipFill>
        <p:spPr>
          <a:xfrm>
            <a:off x="4261104" y="4032504"/>
            <a:ext cx="256032" cy="256032"/>
          </a:xfrm>
          <a:prstGeom prst="rect">
            <a:avLst/>
          </a:prstGeom>
        </p:spPr>
      </p:pic>
      <p:sp>
        <p:nvSpPr>
          <p:cNvPr id="16" name="Text 11"/>
          <p:cNvSpPr/>
          <p:nvPr/>
        </p:nvSpPr>
        <p:spPr>
          <a:xfrm>
            <a:off x="4818888" y="3904488"/>
            <a:ext cx="6748272"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Project Development</a:t>
            </a:r>
            <a:endParaRPr lang="en-US" sz="1450" dirty="0"/>
          </a:p>
        </p:txBody>
      </p:sp>
      <p:sp>
        <p:nvSpPr>
          <p:cNvPr id="17" name="Text 12"/>
          <p:cNvSpPr/>
          <p:nvPr/>
        </p:nvSpPr>
        <p:spPr>
          <a:xfrm>
            <a:off x="4818888" y="4178808"/>
            <a:ext cx="6748272"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End-to-end support in planning, building, and refining student projects.</a:t>
            </a:r>
            <a:endParaRPr lang="en-US" sz="1150" dirty="0"/>
          </a:p>
        </p:txBody>
      </p:sp>
      <p:sp>
        <p:nvSpPr>
          <p:cNvPr id="18" name="Shape 13"/>
          <p:cNvSpPr/>
          <p:nvPr/>
        </p:nvSpPr>
        <p:spPr>
          <a:xfrm>
            <a:off x="4160520" y="4983480"/>
            <a:ext cx="457200" cy="457200"/>
          </a:xfrm>
          <a:prstGeom prst="ellipse">
            <a:avLst/>
          </a:prstGeom>
          <a:solidFill>
            <a:srgbClr val="FF6B35"/>
          </a:solidFill>
          <a:ln/>
        </p:spPr>
      </p:sp>
      <p:pic>
        <p:nvPicPr>
          <p:cNvPr id="19" name="Image 3" descr="preencoded.png"/>
          <p:cNvPicPr>
            <a:picLocks noChangeAspect="1"/>
          </p:cNvPicPr>
          <p:nvPr/>
        </p:nvPicPr>
        <p:blipFill>
          <a:blip r:embed="rId6"/>
          <a:stretch>
            <a:fillRect/>
          </a:stretch>
        </p:blipFill>
        <p:spPr>
          <a:xfrm>
            <a:off x="4261104" y="5084064"/>
            <a:ext cx="256032" cy="256032"/>
          </a:xfrm>
          <a:prstGeom prst="rect">
            <a:avLst/>
          </a:prstGeom>
        </p:spPr>
      </p:pic>
      <p:sp>
        <p:nvSpPr>
          <p:cNvPr id="20" name="Text 14"/>
          <p:cNvSpPr/>
          <p:nvPr/>
        </p:nvSpPr>
        <p:spPr>
          <a:xfrm>
            <a:off x="4818888" y="4956048"/>
            <a:ext cx="6748272"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Areas of Expertise</a:t>
            </a:r>
            <a:endParaRPr lang="en-US" sz="1450" dirty="0"/>
          </a:p>
        </p:txBody>
      </p:sp>
      <p:sp>
        <p:nvSpPr>
          <p:cNvPr id="21" name="Text 15"/>
          <p:cNvSpPr/>
          <p:nvPr/>
        </p:nvSpPr>
        <p:spPr>
          <a:xfrm>
            <a:off x="4818888" y="5230368"/>
            <a:ext cx="6748272"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Data Analytics, Web Development, Machine Learning, and Software Engineering.</a:t>
            </a:r>
            <a:endParaRPr lang="en-US" sz="1150" dirty="0"/>
          </a:p>
        </p:txBody>
      </p:sp>
      <p:sp>
        <p:nvSpPr>
          <p:cNvPr id="22" name="Text 16"/>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A66"/>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23" name="Text 17"/>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6A66"/>
                </a:solidFill>
                <a:latin typeface="Calibri" pitchFamily="34" charset="0"/>
                <a:ea typeface="Calibri" pitchFamily="34" charset="-122"/>
                <a:cs typeface="Calibri" pitchFamily="34" charset="-120"/>
              </a:rPr>
              <a:t>3</a:t>
            </a:r>
            <a:endParaRPr lang="en-US" sz="900" dirty="0"/>
          </a:p>
        </p:txBody>
      </p:sp>
      <p:pic>
        <p:nvPicPr>
          <p:cNvPr id="25" name="Picture 24" descr="logo2.png"/>
          <p:cNvPicPr>
            <a:picLocks noChangeAspect="1"/>
          </p:cNvPicPr>
          <p:nvPr/>
        </p:nvPicPr>
        <p:blipFill>
          <a:blip r:embed="rId7"/>
          <a:stretch>
            <a:fillRect/>
          </a:stretch>
        </p:blipFill>
        <p:spPr>
          <a:xfrm>
            <a:off x="822960" y="1829158"/>
            <a:ext cx="2849636" cy="23035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F6B35"/>
          </a:solidFill>
          <a:ln/>
        </p:spPr>
      </p:sp>
      <p:pic>
        <p:nvPicPr>
          <p:cNvPr id="3"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4" name="Text 1"/>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1A1A1A"/>
                </a:solidFill>
                <a:latin typeface="Cambria" pitchFamily="34" charset="0"/>
                <a:ea typeface="Cambria" pitchFamily="34" charset="-122"/>
                <a:cs typeface="Cambria" pitchFamily="34" charset="-120"/>
              </a:rPr>
              <a:t>Problem Statement</a:t>
            </a:r>
            <a:endParaRPr lang="en-US" sz="3000" dirty="0"/>
          </a:p>
        </p:txBody>
      </p:sp>
      <p:sp>
        <p:nvSpPr>
          <p:cNvPr id="5" name="Shape 2"/>
          <p:cNvSpPr/>
          <p:nvPr/>
        </p:nvSpPr>
        <p:spPr>
          <a:xfrm>
            <a:off x="548640" y="1874520"/>
            <a:ext cx="3520440" cy="3794760"/>
          </a:xfrm>
          <a:prstGeom prst="roundRect">
            <a:avLst>
              <a:gd name="adj" fmla="val 2338"/>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6" name="Shape 3"/>
          <p:cNvSpPr/>
          <p:nvPr/>
        </p:nvSpPr>
        <p:spPr>
          <a:xfrm>
            <a:off x="1943100" y="2286000"/>
            <a:ext cx="731520" cy="731520"/>
          </a:xfrm>
          <a:prstGeom prst="ellipse">
            <a:avLst/>
          </a:prstGeom>
          <a:solidFill>
            <a:srgbClr val="FF6B35"/>
          </a:solidFill>
          <a:ln/>
        </p:spPr>
      </p:sp>
      <p:pic>
        <p:nvPicPr>
          <p:cNvPr id="7" name="Image 1" descr="preencoded.png"/>
          <p:cNvPicPr>
            <a:picLocks noChangeAspect="1"/>
          </p:cNvPicPr>
          <p:nvPr/>
        </p:nvPicPr>
        <p:blipFill>
          <a:blip r:embed="rId4"/>
          <a:stretch>
            <a:fillRect/>
          </a:stretch>
        </p:blipFill>
        <p:spPr>
          <a:xfrm>
            <a:off x="2104034" y="2446934"/>
            <a:ext cx="409651" cy="409651"/>
          </a:xfrm>
          <a:prstGeom prst="rect">
            <a:avLst/>
          </a:prstGeom>
        </p:spPr>
      </p:pic>
      <p:sp>
        <p:nvSpPr>
          <p:cNvPr id="8" name="Text 4"/>
          <p:cNvSpPr/>
          <p:nvPr/>
        </p:nvSpPr>
        <p:spPr>
          <a:xfrm>
            <a:off x="868680" y="3291840"/>
            <a:ext cx="2880360" cy="822960"/>
          </a:xfrm>
          <a:prstGeom prst="rect">
            <a:avLst/>
          </a:prstGeom>
          <a:noFill/>
          <a:ln/>
        </p:spPr>
        <p:txBody>
          <a:bodyPr wrap="square" rtlCol="0" anchor="t"/>
          <a:lstStyle/>
          <a:p>
            <a:pPr marL="0" indent="0" algn="ctr">
              <a:lnSpc>
                <a:spcPct val="115000"/>
              </a:lnSpc>
              <a:buNone/>
            </a:pPr>
            <a:r>
              <a:rPr lang="en-US" sz="1550" b="1" dirty="0">
                <a:solidFill>
                  <a:srgbClr val="1A1A1A"/>
                </a:solidFill>
                <a:latin typeface="Calibri" pitchFamily="34" charset="0"/>
                <a:ea typeface="Calibri" pitchFamily="34" charset="-122"/>
                <a:cs typeface="Calibri" pitchFamily="34" charset="-120"/>
              </a:rPr>
              <a:t>Data Too Large to Read Manually</a:t>
            </a:r>
            <a:endParaRPr lang="en-US" sz="1550" dirty="0"/>
          </a:p>
        </p:txBody>
      </p:sp>
      <p:sp>
        <p:nvSpPr>
          <p:cNvPr id="9" name="Text 5"/>
          <p:cNvSpPr/>
          <p:nvPr/>
        </p:nvSpPr>
        <p:spPr>
          <a:xfrm>
            <a:off x="868680" y="4206240"/>
            <a:ext cx="2880360" cy="1280160"/>
          </a:xfrm>
          <a:prstGeom prst="rect">
            <a:avLst/>
          </a:prstGeom>
          <a:noFill/>
          <a:ln/>
        </p:spPr>
        <p:txBody>
          <a:bodyPr wrap="square" rtlCol="0" anchor="t"/>
          <a:lstStyle/>
          <a:p>
            <a:pPr marL="0" indent="0" algn="ctr">
              <a:lnSpc>
                <a:spcPct val="130000"/>
              </a:lnSpc>
              <a:buNone/>
            </a:pPr>
            <a:r>
              <a:rPr lang="en-US" sz="1200" dirty="0">
                <a:solidFill>
                  <a:srgbClr val="6E6A66"/>
                </a:solidFill>
                <a:latin typeface="Calibri" pitchFamily="34" charset="0"/>
                <a:ea typeface="Calibri" pitchFamily="34" charset="-122"/>
                <a:cs typeface="Calibri" pitchFamily="34" charset="-120"/>
              </a:rPr>
              <a:t>Restaurant datasets contain thousands of records — far too many to study row by row.</a:t>
            </a:r>
            <a:endParaRPr lang="en-US" sz="1200" dirty="0"/>
          </a:p>
        </p:txBody>
      </p:sp>
      <p:sp>
        <p:nvSpPr>
          <p:cNvPr id="10" name="Shape 6"/>
          <p:cNvSpPr/>
          <p:nvPr/>
        </p:nvSpPr>
        <p:spPr>
          <a:xfrm>
            <a:off x="4389120" y="1874520"/>
            <a:ext cx="3520440" cy="3794760"/>
          </a:xfrm>
          <a:prstGeom prst="roundRect">
            <a:avLst>
              <a:gd name="adj" fmla="val 2338"/>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11" name="Shape 7"/>
          <p:cNvSpPr/>
          <p:nvPr/>
        </p:nvSpPr>
        <p:spPr>
          <a:xfrm>
            <a:off x="5783580" y="2286000"/>
            <a:ext cx="731520" cy="731520"/>
          </a:xfrm>
          <a:prstGeom prst="ellipse">
            <a:avLst/>
          </a:prstGeom>
          <a:solidFill>
            <a:srgbClr val="FF6B35"/>
          </a:solidFill>
          <a:ln/>
        </p:spPr>
      </p:sp>
      <p:pic>
        <p:nvPicPr>
          <p:cNvPr id="12" name="Image 2" descr="preencoded.png"/>
          <p:cNvPicPr>
            <a:picLocks noChangeAspect="1"/>
          </p:cNvPicPr>
          <p:nvPr/>
        </p:nvPicPr>
        <p:blipFill>
          <a:blip r:embed="rId3"/>
          <a:stretch>
            <a:fillRect/>
          </a:stretch>
        </p:blipFill>
        <p:spPr>
          <a:xfrm>
            <a:off x="5944514" y="2446934"/>
            <a:ext cx="409651" cy="409651"/>
          </a:xfrm>
          <a:prstGeom prst="rect">
            <a:avLst/>
          </a:prstGeom>
        </p:spPr>
      </p:pic>
      <p:sp>
        <p:nvSpPr>
          <p:cNvPr id="13" name="Text 8"/>
          <p:cNvSpPr/>
          <p:nvPr/>
        </p:nvSpPr>
        <p:spPr>
          <a:xfrm>
            <a:off x="4709160" y="3291840"/>
            <a:ext cx="2880360" cy="822960"/>
          </a:xfrm>
          <a:prstGeom prst="rect">
            <a:avLst/>
          </a:prstGeom>
          <a:noFill/>
          <a:ln/>
        </p:spPr>
        <p:txBody>
          <a:bodyPr wrap="square" rtlCol="0" anchor="t"/>
          <a:lstStyle/>
          <a:p>
            <a:pPr marL="0" indent="0" algn="ctr">
              <a:lnSpc>
                <a:spcPct val="115000"/>
              </a:lnSpc>
              <a:buNone/>
            </a:pPr>
            <a:r>
              <a:rPr lang="en-US" sz="1550" b="1" dirty="0">
                <a:solidFill>
                  <a:srgbClr val="1A1A1A"/>
                </a:solidFill>
                <a:latin typeface="Calibri" pitchFamily="34" charset="0"/>
                <a:ea typeface="Calibri" pitchFamily="34" charset="-122"/>
                <a:cs typeface="Calibri" pitchFamily="34" charset="-120"/>
              </a:rPr>
              <a:t>Hidden Trends Go Unnoticed</a:t>
            </a:r>
            <a:endParaRPr lang="en-US" sz="1550" dirty="0"/>
          </a:p>
        </p:txBody>
      </p:sp>
      <p:sp>
        <p:nvSpPr>
          <p:cNvPr id="14" name="Text 9"/>
          <p:cNvSpPr/>
          <p:nvPr/>
        </p:nvSpPr>
        <p:spPr>
          <a:xfrm>
            <a:off x="4709160" y="4206240"/>
            <a:ext cx="2880360" cy="1280160"/>
          </a:xfrm>
          <a:prstGeom prst="rect">
            <a:avLst/>
          </a:prstGeom>
          <a:noFill/>
          <a:ln/>
        </p:spPr>
        <p:txBody>
          <a:bodyPr wrap="square" rtlCol="0" anchor="t"/>
          <a:lstStyle/>
          <a:p>
            <a:pPr marL="0" indent="0" algn="ctr">
              <a:lnSpc>
                <a:spcPct val="130000"/>
              </a:lnSpc>
              <a:buNone/>
            </a:pPr>
            <a:r>
              <a:rPr lang="en-US" sz="1200" dirty="0">
                <a:solidFill>
                  <a:srgbClr val="6E6A66"/>
                </a:solidFill>
                <a:latin typeface="Calibri" pitchFamily="34" charset="0"/>
                <a:ea typeface="Calibri" pitchFamily="34" charset="-122"/>
                <a:cs typeface="Calibri" pitchFamily="34" charset="-120"/>
              </a:rPr>
              <a:t>Patterns in ratings, pricing, and delivery performance stay hidden without proper analysis.</a:t>
            </a:r>
            <a:endParaRPr lang="en-US" sz="1200" dirty="0"/>
          </a:p>
        </p:txBody>
      </p:sp>
      <p:sp>
        <p:nvSpPr>
          <p:cNvPr id="15" name="Shape 10"/>
          <p:cNvSpPr/>
          <p:nvPr/>
        </p:nvSpPr>
        <p:spPr>
          <a:xfrm>
            <a:off x="8229600" y="1874520"/>
            <a:ext cx="3520440" cy="3794760"/>
          </a:xfrm>
          <a:prstGeom prst="roundRect">
            <a:avLst>
              <a:gd name="adj" fmla="val 2338"/>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16" name="Shape 11"/>
          <p:cNvSpPr/>
          <p:nvPr/>
        </p:nvSpPr>
        <p:spPr>
          <a:xfrm>
            <a:off x="9624060" y="2286000"/>
            <a:ext cx="731520" cy="731520"/>
          </a:xfrm>
          <a:prstGeom prst="ellipse">
            <a:avLst/>
          </a:prstGeom>
          <a:solidFill>
            <a:srgbClr val="FF6B35"/>
          </a:solidFill>
          <a:ln/>
        </p:spPr>
      </p:sp>
      <p:pic>
        <p:nvPicPr>
          <p:cNvPr id="17" name="Image 3" descr="preencoded.png"/>
          <p:cNvPicPr>
            <a:picLocks noChangeAspect="1"/>
          </p:cNvPicPr>
          <p:nvPr/>
        </p:nvPicPr>
        <p:blipFill>
          <a:blip r:embed="rId5"/>
          <a:stretch>
            <a:fillRect/>
          </a:stretch>
        </p:blipFill>
        <p:spPr>
          <a:xfrm>
            <a:off x="9784994" y="2446934"/>
            <a:ext cx="409651" cy="409651"/>
          </a:xfrm>
          <a:prstGeom prst="rect">
            <a:avLst/>
          </a:prstGeom>
        </p:spPr>
      </p:pic>
      <p:sp>
        <p:nvSpPr>
          <p:cNvPr id="18" name="Text 12"/>
          <p:cNvSpPr/>
          <p:nvPr/>
        </p:nvSpPr>
        <p:spPr>
          <a:xfrm>
            <a:off x="8549640" y="3291840"/>
            <a:ext cx="2880360" cy="822960"/>
          </a:xfrm>
          <a:prstGeom prst="rect">
            <a:avLst/>
          </a:prstGeom>
          <a:noFill/>
          <a:ln/>
        </p:spPr>
        <p:txBody>
          <a:bodyPr wrap="square" rtlCol="0" anchor="t"/>
          <a:lstStyle/>
          <a:p>
            <a:pPr marL="0" indent="0" algn="ctr">
              <a:lnSpc>
                <a:spcPct val="115000"/>
              </a:lnSpc>
              <a:buNone/>
            </a:pPr>
            <a:r>
              <a:rPr lang="en-US" sz="1550" b="1" dirty="0">
                <a:solidFill>
                  <a:srgbClr val="1A1A1A"/>
                </a:solidFill>
                <a:latin typeface="Calibri" pitchFamily="34" charset="0"/>
                <a:ea typeface="Calibri" pitchFamily="34" charset="-122"/>
                <a:cs typeface="Calibri" pitchFamily="34" charset="-120"/>
              </a:rPr>
              <a:t>Decisions Need to Be Fast</a:t>
            </a:r>
            <a:endParaRPr lang="en-US" sz="1550" dirty="0"/>
          </a:p>
        </p:txBody>
      </p:sp>
      <p:sp>
        <p:nvSpPr>
          <p:cNvPr id="19" name="Text 13"/>
          <p:cNvSpPr/>
          <p:nvPr/>
        </p:nvSpPr>
        <p:spPr>
          <a:xfrm>
            <a:off x="8549640" y="4206240"/>
            <a:ext cx="2880360" cy="1280160"/>
          </a:xfrm>
          <a:prstGeom prst="rect">
            <a:avLst/>
          </a:prstGeom>
          <a:noFill/>
          <a:ln/>
        </p:spPr>
        <p:txBody>
          <a:bodyPr wrap="square" rtlCol="0" anchor="t"/>
          <a:lstStyle/>
          <a:p>
            <a:pPr marL="0" indent="0" algn="ctr">
              <a:lnSpc>
                <a:spcPct val="130000"/>
              </a:lnSpc>
              <a:buNone/>
            </a:pPr>
            <a:r>
              <a:rPr lang="en-US" sz="1200" dirty="0">
                <a:solidFill>
                  <a:srgbClr val="6E6A66"/>
                </a:solidFill>
                <a:latin typeface="Calibri" pitchFamily="34" charset="0"/>
                <a:ea typeface="Calibri" pitchFamily="34" charset="-122"/>
                <a:cs typeface="Calibri" pitchFamily="34" charset="-120"/>
              </a:rPr>
              <a:t>Businesses need quick, accurate insights to act on — not slow, manual reporting.</a:t>
            </a:r>
            <a:endParaRPr lang="en-US" sz="1200" dirty="0"/>
          </a:p>
        </p:txBody>
      </p:sp>
      <p:sp>
        <p:nvSpPr>
          <p:cNvPr id="20" name="Text 14"/>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A66"/>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21" name="Text 15"/>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6A6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F6B35"/>
          </a:solidFill>
          <a:ln/>
        </p:spPr>
      </p:sp>
      <p:pic>
        <p:nvPicPr>
          <p:cNvPr id="3"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4" name="Text 1"/>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1A1A1A"/>
                </a:solidFill>
                <a:latin typeface="Cambria" pitchFamily="34" charset="0"/>
                <a:ea typeface="Cambria" pitchFamily="34" charset="-122"/>
                <a:cs typeface="Cambria" pitchFamily="34" charset="-120"/>
              </a:rPr>
              <a:t>Project Objectives</a:t>
            </a:r>
            <a:endParaRPr lang="en-US" sz="3000" dirty="0"/>
          </a:p>
        </p:txBody>
      </p:sp>
      <p:sp>
        <p:nvSpPr>
          <p:cNvPr id="5" name="Shape 2"/>
          <p:cNvSpPr/>
          <p:nvPr/>
        </p:nvSpPr>
        <p:spPr>
          <a:xfrm>
            <a:off x="548640" y="1737360"/>
            <a:ext cx="502920" cy="502920"/>
          </a:xfrm>
          <a:prstGeom prst="ellipse">
            <a:avLst/>
          </a:prstGeom>
          <a:solidFill>
            <a:srgbClr val="FF6B35"/>
          </a:solidFill>
          <a:ln/>
        </p:spPr>
      </p:sp>
      <p:pic>
        <p:nvPicPr>
          <p:cNvPr id="6" name="Image 1" descr="preencoded.png"/>
          <p:cNvPicPr>
            <a:picLocks noChangeAspect="1"/>
          </p:cNvPicPr>
          <p:nvPr/>
        </p:nvPicPr>
        <p:blipFill>
          <a:blip r:embed="rId4"/>
          <a:stretch>
            <a:fillRect/>
          </a:stretch>
        </p:blipFill>
        <p:spPr>
          <a:xfrm>
            <a:off x="659282" y="1848002"/>
            <a:ext cx="281635" cy="281635"/>
          </a:xfrm>
          <a:prstGeom prst="rect">
            <a:avLst/>
          </a:prstGeom>
        </p:spPr>
      </p:pic>
      <p:sp>
        <p:nvSpPr>
          <p:cNvPr id="7" name="Text 3"/>
          <p:cNvSpPr/>
          <p:nvPr/>
        </p:nvSpPr>
        <p:spPr>
          <a:xfrm>
            <a:off x="1252728" y="1709928"/>
            <a:ext cx="4782312"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Clean &amp; Organize Data</a:t>
            </a:r>
            <a:endParaRPr lang="en-US" sz="1450" dirty="0"/>
          </a:p>
        </p:txBody>
      </p:sp>
      <p:sp>
        <p:nvSpPr>
          <p:cNvPr id="8" name="Text 4"/>
          <p:cNvSpPr/>
          <p:nvPr/>
        </p:nvSpPr>
        <p:spPr>
          <a:xfrm>
            <a:off x="1252728" y="1984248"/>
            <a:ext cx="4782312"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Prepare raw restaurant data for accurate, reliable analysis.</a:t>
            </a:r>
            <a:endParaRPr lang="en-US" sz="1150" dirty="0"/>
          </a:p>
        </p:txBody>
      </p:sp>
      <p:sp>
        <p:nvSpPr>
          <p:cNvPr id="9" name="Shape 5"/>
          <p:cNvSpPr/>
          <p:nvPr/>
        </p:nvSpPr>
        <p:spPr>
          <a:xfrm>
            <a:off x="548640" y="3063240"/>
            <a:ext cx="502920" cy="502920"/>
          </a:xfrm>
          <a:prstGeom prst="ellipse">
            <a:avLst/>
          </a:prstGeom>
          <a:solidFill>
            <a:srgbClr val="FF6B35"/>
          </a:solidFill>
          <a:ln/>
        </p:spPr>
      </p:sp>
      <p:pic>
        <p:nvPicPr>
          <p:cNvPr id="10" name="Image 2" descr="preencoded.png"/>
          <p:cNvPicPr>
            <a:picLocks noChangeAspect="1"/>
          </p:cNvPicPr>
          <p:nvPr/>
        </p:nvPicPr>
        <p:blipFill>
          <a:blip r:embed="rId5"/>
          <a:stretch>
            <a:fillRect/>
          </a:stretch>
        </p:blipFill>
        <p:spPr>
          <a:xfrm>
            <a:off x="659282" y="3173882"/>
            <a:ext cx="281635" cy="281635"/>
          </a:xfrm>
          <a:prstGeom prst="rect">
            <a:avLst/>
          </a:prstGeom>
        </p:spPr>
      </p:pic>
      <p:sp>
        <p:nvSpPr>
          <p:cNvPr id="11" name="Text 6"/>
          <p:cNvSpPr/>
          <p:nvPr/>
        </p:nvSpPr>
        <p:spPr>
          <a:xfrm>
            <a:off x="1252728" y="3035808"/>
            <a:ext cx="4782312"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Analyze Ratings &amp; Delivery</a:t>
            </a:r>
            <a:endParaRPr lang="en-US" sz="1450" dirty="0"/>
          </a:p>
        </p:txBody>
      </p:sp>
      <p:sp>
        <p:nvSpPr>
          <p:cNvPr id="12" name="Text 7"/>
          <p:cNvSpPr/>
          <p:nvPr/>
        </p:nvSpPr>
        <p:spPr>
          <a:xfrm>
            <a:off x="1252728" y="3310128"/>
            <a:ext cx="4782312"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Study customer ratings alongside delivery performance.</a:t>
            </a:r>
            <a:endParaRPr lang="en-US" sz="1150" dirty="0"/>
          </a:p>
        </p:txBody>
      </p:sp>
      <p:sp>
        <p:nvSpPr>
          <p:cNvPr id="13" name="Shape 8"/>
          <p:cNvSpPr/>
          <p:nvPr/>
        </p:nvSpPr>
        <p:spPr>
          <a:xfrm>
            <a:off x="548640" y="4389120"/>
            <a:ext cx="502920" cy="502920"/>
          </a:xfrm>
          <a:prstGeom prst="ellipse">
            <a:avLst/>
          </a:prstGeom>
          <a:solidFill>
            <a:srgbClr val="FF6B35"/>
          </a:solidFill>
          <a:ln/>
        </p:spPr>
      </p:sp>
      <p:pic>
        <p:nvPicPr>
          <p:cNvPr id="14" name="Image 3" descr="preencoded.png"/>
          <p:cNvPicPr>
            <a:picLocks noChangeAspect="1"/>
          </p:cNvPicPr>
          <p:nvPr/>
        </p:nvPicPr>
        <p:blipFill>
          <a:blip r:embed="rId6"/>
          <a:stretch>
            <a:fillRect/>
          </a:stretch>
        </p:blipFill>
        <p:spPr>
          <a:xfrm>
            <a:off x="659282" y="4499762"/>
            <a:ext cx="281635" cy="281635"/>
          </a:xfrm>
          <a:prstGeom prst="rect">
            <a:avLst/>
          </a:prstGeom>
        </p:spPr>
      </p:pic>
      <p:sp>
        <p:nvSpPr>
          <p:cNvPr id="15" name="Text 9"/>
          <p:cNvSpPr/>
          <p:nvPr/>
        </p:nvSpPr>
        <p:spPr>
          <a:xfrm>
            <a:off x="1252728" y="4361688"/>
            <a:ext cx="4782312"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Compare City Trends</a:t>
            </a:r>
            <a:endParaRPr lang="en-US" sz="1450" dirty="0"/>
          </a:p>
        </p:txBody>
      </p:sp>
      <p:sp>
        <p:nvSpPr>
          <p:cNvPr id="16" name="Text 10"/>
          <p:cNvSpPr/>
          <p:nvPr/>
        </p:nvSpPr>
        <p:spPr>
          <a:xfrm>
            <a:off x="1252728" y="4636008"/>
            <a:ext cx="4782312"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Identify how performance varies across different cities.</a:t>
            </a:r>
            <a:endParaRPr lang="en-US" sz="1150" dirty="0"/>
          </a:p>
        </p:txBody>
      </p:sp>
      <p:sp>
        <p:nvSpPr>
          <p:cNvPr id="17" name="Shape 11"/>
          <p:cNvSpPr/>
          <p:nvPr/>
        </p:nvSpPr>
        <p:spPr>
          <a:xfrm>
            <a:off x="6537960" y="1737360"/>
            <a:ext cx="502920" cy="502920"/>
          </a:xfrm>
          <a:prstGeom prst="ellipse">
            <a:avLst/>
          </a:prstGeom>
          <a:solidFill>
            <a:srgbClr val="FF6B35"/>
          </a:solidFill>
          <a:ln/>
        </p:spPr>
      </p:sp>
      <p:pic>
        <p:nvPicPr>
          <p:cNvPr id="18" name="Image 4" descr="preencoded.png"/>
          <p:cNvPicPr>
            <a:picLocks noChangeAspect="1"/>
          </p:cNvPicPr>
          <p:nvPr/>
        </p:nvPicPr>
        <p:blipFill>
          <a:blip r:embed="rId7"/>
          <a:stretch>
            <a:fillRect/>
          </a:stretch>
        </p:blipFill>
        <p:spPr>
          <a:xfrm>
            <a:off x="6648602" y="1848002"/>
            <a:ext cx="281635" cy="281635"/>
          </a:xfrm>
          <a:prstGeom prst="rect">
            <a:avLst/>
          </a:prstGeom>
        </p:spPr>
      </p:pic>
      <p:sp>
        <p:nvSpPr>
          <p:cNvPr id="19" name="Text 12"/>
          <p:cNvSpPr/>
          <p:nvPr/>
        </p:nvSpPr>
        <p:spPr>
          <a:xfrm>
            <a:off x="7242048" y="1709928"/>
            <a:ext cx="4782312"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Identify Popular Cuisines</a:t>
            </a:r>
            <a:endParaRPr lang="en-US" sz="1450" dirty="0"/>
          </a:p>
        </p:txBody>
      </p:sp>
      <p:sp>
        <p:nvSpPr>
          <p:cNvPr id="20" name="Text 13"/>
          <p:cNvSpPr/>
          <p:nvPr/>
        </p:nvSpPr>
        <p:spPr>
          <a:xfrm>
            <a:off x="7242048" y="1984248"/>
            <a:ext cx="4782312"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Find which cuisines and food types drive the most orders.</a:t>
            </a:r>
            <a:endParaRPr lang="en-US" sz="1150" dirty="0"/>
          </a:p>
        </p:txBody>
      </p:sp>
      <p:sp>
        <p:nvSpPr>
          <p:cNvPr id="21" name="Shape 14"/>
          <p:cNvSpPr/>
          <p:nvPr/>
        </p:nvSpPr>
        <p:spPr>
          <a:xfrm>
            <a:off x="6537960" y="3063240"/>
            <a:ext cx="502920" cy="502920"/>
          </a:xfrm>
          <a:prstGeom prst="ellipse">
            <a:avLst/>
          </a:prstGeom>
          <a:solidFill>
            <a:srgbClr val="FF6B35"/>
          </a:solidFill>
          <a:ln/>
        </p:spPr>
      </p:sp>
      <p:pic>
        <p:nvPicPr>
          <p:cNvPr id="22" name="Image 5" descr="preencoded.png"/>
          <p:cNvPicPr>
            <a:picLocks noChangeAspect="1"/>
          </p:cNvPicPr>
          <p:nvPr/>
        </p:nvPicPr>
        <p:blipFill>
          <a:blip r:embed="rId8"/>
          <a:stretch>
            <a:fillRect/>
          </a:stretch>
        </p:blipFill>
        <p:spPr>
          <a:xfrm>
            <a:off x="6648602" y="3173882"/>
            <a:ext cx="281635" cy="281635"/>
          </a:xfrm>
          <a:prstGeom prst="rect">
            <a:avLst/>
          </a:prstGeom>
        </p:spPr>
      </p:pic>
      <p:sp>
        <p:nvSpPr>
          <p:cNvPr id="23" name="Text 15"/>
          <p:cNvSpPr/>
          <p:nvPr/>
        </p:nvSpPr>
        <p:spPr>
          <a:xfrm>
            <a:off x="7242048" y="3035808"/>
            <a:ext cx="4782312"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Generate Recommendations</a:t>
            </a:r>
            <a:endParaRPr lang="en-US" sz="1450" dirty="0"/>
          </a:p>
        </p:txBody>
      </p:sp>
      <p:sp>
        <p:nvSpPr>
          <p:cNvPr id="24" name="Text 16"/>
          <p:cNvSpPr/>
          <p:nvPr/>
        </p:nvSpPr>
        <p:spPr>
          <a:xfrm>
            <a:off x="7242048" y="3310128"/>
            <a:ext cx="4782312"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Turn findings into clear, practical business suggestions.</a:t>
            </a:r>
            <a:endParaRPr lang="en-US" sz="1150" dirty="0"/>
          </a:p>
        </p:txBody>
      </p:sp>
      <p:sp>
        <p:nvSpPr>
          <p:cNvPr id="25" name="Text 17"/>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A66"/>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26" name="Text 18"/>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6A6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F6B35"/>
          </a:solidFill>
          <a:ln/>
        </p:spPr>
      </p:sp>
      <p:pic>
        <p:nvPicPr>
          <p:cNvPr id="3"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4" name="Text 1"/>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1A1A1A"/>
                </a:solidFill>
                <a:latin typeface="Cambria" pitchFamily="34" charset="0"/>
                <a:ea typeface="Cambria" pitchFamily="34" charset="-122"/>
                <a:cs typeface="Cambria" pitchFamily="34" charset="-120"/>
              </a:rPr>
              <a:t>Project Features</a:t>
            </a:r>
            <a:endParaRPr lang="en-US" sz="3000" dirty="0"/>
          </a:p>
        </p:txBody>
      </p:sp>
      <p:sp>
        <p:nvSpPr>
          <p:cNvPr id="5" name="Shape 2"/>
          <p:cNvSpPr/>
          <p:nvPr/>
        </p:nvSpPr>
        <p:spPr>
          <a:xfrm>
            <a:off x="548640" y="1783080"/>
            <a:ext cx="2606040" cy="1965960"/>
          </a:xfrm>
          <a:prstGeom prst="roundRect">
            <a:avLst>
              <a:gd name="adj" fmla="val 4186"/>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6" name="Shape 3"/>
          <p:cNvSpPr/>
          <p:nvPr/>
        </p:nvSpPr>
        <p:spPr>
          <a:xfrm>
            <a:off x="1559052" y="2057400"/>
            <a:ext cx="585216" cy="585216"/>
          </a:xfrm>
          <a:prstGeom prst="ellipse">
            <a:avLst/>
          </a:prstGeom>
          <a:solidFill>
            <a:srgbClr val="FF6B35"/>
          </a:solidFill>
          <a:ln/>
        </p:spPr>
      </p:sp>
      <p:pic>
        <p:nvPicPr>
          <p:cNvPr id="7" name="Image 1" descr="preencoded.png"/>
          <p:cNvPicPr>
            <a:picLocks noChangeAspect="1"/>
          </p:cNvPicPr>
          <p:nvPr/>
        </p:nvPicPr>
        <p:blipFill>
          <a:blip r:embed="rId3"/>
          <a:stretch>
            <a:fillRect/>
          </a:stretch>
        </p:blipFill>
        <p:spPr>
          <a:xfrm>
            <a:off x="1687800" y="2186148"/>
            <a:ext cx="327721" cy="327721"/>
          </a:xfrm>
          <a:prstGeom prst="rect">
            <a:avLst/>
          </a:prstGeom>
        </p:spPr>
      </p:pic>
      <p:sp>
        <p:nvSpPr>
          <p:cNvPr id="8" name="Text 4"/>
          <p:cNvSpPr/>
          <p:nvPr/>
        </p:nvSpPr>
        <p:spPr>
          <a:xfrm>
            <a:off x="685800" y="2834640"/>
            <a:ext cx="2331720" cy="777240"/>
          </a:xfrm>
          <a:prstGeom prst="rect">
            <a:avLst/>
          </a:prstGeom>
          <a:noFill/>
          <a:ln/>
        </p:spPr>
        <p:txBody>
          <a:bodyPr wrap="square" rtlCol="0" anchor="t"/>
          <a:lstStyle/>
          <a:p>
            <a:pPr marL="0" indent="0" algn="ctr">
              <a:lnSpc>
                <a:spcPct val="110000"/>
              </a:lnSpc>
              <a:buNone/>
            </a:pPr>
            <a:r>
              <a:rPr lang="en-US" sz="1300" b="1" dirty="0">
                <a:solidFill>
                  <a:srgbClr val="1A1A1A"/>
                </a:solidFill>
                <a:latin typeface="Calibri" pitchFamily="34" charset="0"/>
                <a:ea typeface="Calibri" pitchFamily="34" charset="-122"/>
                <a:cs typeface="Calibri" pitchFamily="34" charset="-120"/>
              </a:rPr>
              <a:t>Interactive Dashboard</a:t>
            </a:r>
            <a:endParaRPr lang="en-US" sz="1300" dirty="0"/>
          </a:p>
        </p:txBody>
      </p:sp>
      <p:sp>
        <p:nvSpPr>
          <p:cNvPr id="9" name="Shape 5"/>
          <p:cNvSpPr/>
          <p:nvPr/>
        </p:nvSpPr>
        <p:spPr>
          <a:xfrm>
            <a:off x="3355848" y="1783080"/>
            <a:ext cx="2606040" cy="1965960"/>
          </a:xfrm>
          <a:prstGeom prst="roundRect">
            <a:avLst>
              <a:gd name="adj" fmla="val 4186"/>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10" name="Shape 6"/>
          <p:cNvSpPr/>
          <p:nvPr/>
        </p:nvSpPr>
        <p:spPr>
          <a:xfrm>
            <a:off x="4366260" y="2057400"/>
            <a:ext cx="585216" cy="585216"/>
          </a:xfrm>
          <a:prstGeom prst="ellipse">
            <a:avLst/>
          </a:prstGeom>
          <a:solidFill>
            <a:srgbClr val="FF6B35"/>
          </a:solidFill>
          <a:ln/>
        </p:spPr>
      </p:sp>
      <p:pic>
        <p:nvPicPr>
          <p:cNvPr id="11" name="Image 2" descr="preencoded.png"/>
          <p:cNvPicPr>
            <a:picLocks noChangeAspect="1"/>
          </p:cNvPicPr>
          <p:nvPr/>
        </p:nvPicPr>
        <p:blipFill>
          <a:blip r:embed="rId4"/>
          <a:stretch>
            <a:fillRect/>
          </a:stretch>
        </p:blipFill>
        <p:spPr>
          <a:xfrm>
            <a:off x="4495008" y="2186148"/>
            <a:ext cx="327721" cy="327721"/>
          </a:xfrm>
          <a:prstGeom prst="rect">
            <a:avLst/>
          </a:prstGeom>
        </p:spPr>
      </p:pic>
      <p:sp>
        <p:nvSpPr>
          <p:cNvPr id="12" name="Text 7"/>
          <p:cNvSpPr/>
          <p:nvPr/>
        </p:nvSpPr>
        <p:spPr>
          <a:xfrm>
            <a:off x="3493008" y="2834640"/>
            <a:ext cx="2331720" cy="777240"/>
          </a:xfrm>
          <a:prstGeom prst="rect">
            <a:avLst/>
          </a:prstGeom>
          <a:noFill/>
          <a:ln/>
        </p:spPr>
        <p:txBody>
          <a:bodyPr wrap="square" rtlCol="0" anchor="t"/>
          <a:lstStyle/>
          <a:p>
            <a:pPr marL="0" indent="0" algn="ctr">
              <a:lnSpc>
                <a:spcPct val="110000"/>
              </a:lnSpc>
              <a:buNone/>
            </a:pPr>
            <a:r>
              <a:rPr lang="en-US" sz="1300" b="1" dirty="0">
                <a:solidFill>
                  <a:srgbClr val="1A1A1A"/>
                </a:solidFill>
                <a:latin typeface="Calibri" pitchFamily="34" charset="0"/>
                <a:ea typeface="Calibri" pitchFamily="34" charset="-122"/>
                <a:cs typeface="Calibri" pitchFamily="34" charset="-120"/>
              </a:rPr>
              <a:t>City-wise Filtering</a:t>
            </a:r>
            <a:endParaRPr lang="en-US" sz="1300" dirty="0"/>
          </a:p>
        </p:txBody>
      </p:sp>
      <p:sp>
        <p:nvSpPr>
          <p:cNvPr id="13" name="Shape 8"/>
          <p:cNvSpPr/>
          <p:nvPr/>
        </p:nvSpPr>
        <p:spPr>
          <a:xfrm>
            <a:off x="6163056" y="1783080"/>
            <a:ext cx="2606040" cy="1965960"/>
          </a:xfrm>
          <a:prstGeom prst="roundRect">
            <a:avLst>
              <a:gd name="adj" fmla="val 4186"/>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14" name="Shape 9"/>
          <p:cNvSpPr/>
          <p:nvPr/>
        </p:nvSpPr>
        <p:spPr>
          <a:xfrm>
            <a:off x="7173468" y="2057400"/>
            <a:ext cx="585216" cy="585216"/>
          </a:xfrm>
          <a:prstGeom prst="ellipse">
            <a:avLst/>
          </a:prstGeom>
          <a:solidFill>
            <a:srgbClr val="FF6B35"/>
          </a:solidFill>
          <a:ln/>
        </p:spPr>
      </p:sp>
      <p:pic>
        <p:nvPicPr>
          <p:cNvPr id="15" name="Image 3" descr="preencoded.png"/>
          <p:cNvPicPr>
            <a:picLocks noChangeAspect="1"/>
          </p:cNvPicPr>
          <p:nvPr/>
        </p:nvPicPr>
        <p:blipFill>
          <a:blip r:embed="rId5"/>
          <a:stretch>
            <a:fillRect/>
          </a:stretch>
        </p:blipFill>
        <p:spPr>
          <a:xfrm>
            <a:off x="7302216" y="2186148"/>
            <a:ext cx="327721" cy="327721"/>
          </a:xfrm>
          <a:prstGeom prst="rect">
            <a:avLst/>
          </a:prstGeom>
        </p:spPr>
      </p:pic>
      <p:sp>
        <p:nvSpPr>
          <p:cNvPr id="16" name="Text 10"/>
          <p:cNvSpPr/>
          <p:nvPr/>
        </p:nvSpPr>
        <p:spPr>
          <a:xfrm>
            <a:off x="6300216" y="2834640"/>
            <a:ext cx="2331720" cy="777240"/>
          </a:xfrm>
          <a:prstGeom prst="rect">
            <a:avLst/>
          </a:prstGeom>
          <a:noFill/>
          <a:ln/>
        </p:spPr>
        <p:txBody>
          <a:bodyPr wrap="square" rtlCol="0" anchor="t"/>
          <a:lstStyle/>
          <a:p>
            <a:pPr marL="0" indent="0" algn="ctr">
              <a:lnSpc>
                <a:spcPct val="110000"/>
              </a:lnSpc>
              <a:buNone/>
            </a:pPr>
            <a:r>
              <a:rPr lang="en-US" sz="1300" b="1" dirty="0">
                <a:solidFill>
                  <a:srgbClr val="1A1A1A"/>
                </a:solidFill>
                <a:latin typeface="Calibri" pitchFamily="34" charset="0"/>
                <a:ea typeface="Calibri" pitchFamily="34" charset="-122"/>
                <a:cs typeface="Calibri" pitchFamily="34" charset="-120"/>
              </a:rPr>
              <a:t>Restaurant Analysis</a:t>
            </a:r>
            <a:endParaRPr lang="en-US" sz="1300" dirty="0"/>
          </a:p>
        </p:txBody>
      </p:sp>
      <p:sp>
        <p:nvSpPr>
          <p:cNvPr id="17" name="Shape 11"/>
          <p:cNvSpPr/>
          <p:nvPr/>
        </p:nvSpPr>
        <p:spPr>
          <a:xfrm>
            <a:off x="8970264" y="1783080"/>
            <a:ext cx="2606040" cy="1965960"/>
          </a:xfrm>
          <a:prstGeom prst="roundRect">
            <a:avLst>
              <a:gd name="adj" fmla="val 4186"/>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18" name="Shape 12"/>
          <p:cNvSpPr/>
          <p:nvPr/>
        </p:nvSpPr>
        <p:spPr>
          <a:xfrm>
            <a:off x="9980676" y="2057400"/>
            <a:ext cx="585216" cy="585216"/>
          </a:xfrm>
          <a:prstGeom prst="ellipse">
            <a:avLst/>
          </a:prstGeom>
          <a:solidFill>
            <a:srgbClr val="FF6B35"/>
          </a:solidFill>
          <a:ln/>
        </p:spPr>
      </p:sp>
      <p:pic>
        <p:nvPicPr>
          <p:cNvPr id="19" name="Image 4" descr="preencoded.png"/>
          <p:cNvPicPr>
            <a:picLocks noChangeAspect="1"/>
          </p:cNvPicPr>
          <p:nvPr/>
        </p:nvPicPr>
        <p:blipFill>
          <a:blip r:embed="rId6"/>
          <a:stretch>
            <a:fillRect/>
          </a:stretch>
        </p:blipFill>
        <p:spPr>
          <a:xfrm>
            <a:off x="10109424" y="2186148"/>
            <a:ext cx="327721" cy="327721"/>
          </a:xfrm>
          <a:prstGeom prst="rect">
            <a:avLst/>
          </a:prstGeom>
        </p:spPr>
      </p:pic>
      <p:sp>
        <p:nvSpPr>
          <p:cNvPr id="20" name="Text 13"/>
          <p:cNvSpPr/>
          <p:nvPr/>
        </p:nvSpPr>
        <p:spPr>
          <a:xfrm>
            <a:off x="9107424" y="2834640"/>
            <a:ext cx="2331720" cy="777240"/>
          </a:xfrm>
          <a:prstGeom prst="rect">
            <a:avLst/>
          </a:prstGeom>
          <a:noFill/>
          <a:ln/>
        </p:spPr>
        <p:txBody>
          <a:bodyPr wrap="square" rtlCol="0" anchor="t"/>
          <a:lstStyle/>
          <a:p>
            <a:pPr marL="0" indent="0" algn="ctr">
              <a:lnSpc>
                <a:spcPct val="110000"/>
              </a:lnSpc>
              <a:buNone/>
            </a:pPr>
            <a:r>
              <a:rPr lang="en-US" sz="1300" b="1" dirty="0">
                <a:solidFill>
                  <a:srgbClr val="1A1A1A"/>
                </a:solidFill>
                <a:latin typeface="Calibri" pitchFamily="34" charset="0"/>
                <a:ea typeface="Calibri" pitchFamily="34" charset="-122"/>
                <a:cs typeface="Calibri" pitchFamily="34" charset="-120"/>
              </a:rPr>
              <a:t>Rating Analysis</a:t>
            </a:r>
            <a:endParaRPr lang="en-US" sz="1300" dirty="0"/>
          </a:p>
        </p:txBody>
      </p:sp>
      <p:sp>
        <p:nvSpPr>
          <p:cNvPr id="21" name="Shape 14"/>
          <p:cNvSpPr/>
          <p:nvPr/>
        </p:nvSpPr>
        <p:spPr>
          <a:xfrm>
            <a:off x="548640" y="4023360"/>
            <a:ext cx="2606040" cy="1965960"/>
          </a:xfrm>
          <a:prstGeom prst="roundRect">
            <a:avLst>
              <a:gd name="adj" fmla="val 4186"/>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22" name="Shape 15"/>
          <p:cNvSpPr/>
          <p:nvPr/>
        </p:nvSpPr>
        <p:spPr>
          <a:xfrm>
            <a:off x="1559052" y="4297680"/>
            <a:ext cx="585216" cy="585216"/>
          </a:xfrm>
          <a:prstGeom prst="ellipse">
            <a:avLst/>
          </a:prstGeom>
          <a:solidFill>
            <a:srgbClr val="FF6B35"/>
          </a:solidFill>
          <a:ln/>
        </p:spPr>
      </p:sp>
      <p:pic>
        <p:nvPicPr>
          <p:cNvPr id="23" name="Image 5" descr="preencoded.png"/>
          <p:cNvPicPr>
            <a:picLocks noChangeAspect="1"/>
          </p:cNvPicPr>
          <p:nvPr/>
        </p:nvPicPr>
        <p:blipFill>
          <a:blip r:embed="rId7"/>
          <a:stretch>
            <a:fillRect/>
          </a:stretch>
        </p:blipFill>
        <p:spPr>
          <a:xfrm>
            <a:off x="1687800" y="4426428"/>
            <a:ext cx="327721" cy="327721"/>
          </a:xfrm>
          <a:prstGeom prst="rect">
            <a:avLst/>
          </a:prstGeom>
        </p:spPr>
      </p:pic>
      <p:sp>
        <p:nvSpPr>
          <p:cNvPr id="24" name="Text 16"/>
          <p:cNvSpPr/>
          <p:nvPr/>
        </p:nvSpPr>
        <p:spPr>
          <a:xfrm>
            <a:off x="685800" y="5074920"/>
            <a:ext cx="2331720" cy="777240"/>
          </a:xfrm>
          <a:prstGeom prst="rect">
            <a:avLst/>
          </a:prstGeom>
          <a:noFill/>
          <a:ln/>
        </p:spPr>
        <p:txBody>
          <a:bodyPr wrap="square" rtlCol="0" anchor="t"/>
          <a:lstStyle/>
          <a:p>
            <a:pPr marL="0" indent="0" algn="ctr">
              <a:lnSpc>
                <a:spcPct val="110000"/>
              </a:lnSpc>
              <a:buNone/>
            </a:pPr>
            <a:r>
              <a:rPr lang="en-US" sz="1300" b="1" dirty="0">
                <a:solidFill>
                  <a:srgbClr val="1A1A1A"/>
                </a:solidFill>
                <a:latin typeface="Calibri" pitchFamily="34" charset="0"/>
                <a:ea typeface="Calibri" pitchFamily="34" charset="-122"/>
                <a:cs typeface="Calibri" pitchFamily="34" charset="-120"/>
              </a:rPr>
              <a:t>Delivery Time Analysis</a:t>
            </a:r>
            <a:endParaRPr lang="en-US" sz="1300" dirty="0"/>
          </a:p>
        </p:txBody>
      </p:sp>
      <p:sp>
        <p:nvSpPr>
          <p:cNvPr id="25" name="Shape 17"/>
          <p:cNvSpPr/>
          <p:nvPr/>
        </p:nvSpPr>
        <p:spPr>
          <a:xfrm>
            <a:off x="3355848" y="4023360"/>
            <a:ext cx="2606040" cy="1965960"/>
          </a:xfrm>
          <a:prstGeom prst="roundRect">
            <a:avLst>
              <a:gd name="adj" fmla="val 4186"/>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26" name="Shape 18"/>
          <p:cNvSpPr/>
          <p:nvPr/>
        </p:nvSpPr>
        <p:spPr>
          <a:xfrm>
            <a:off x="4366260" y="4297680"/>
            <a:ext cx="585216" cy="585216"/>
          </a:xfrm>
          <a:prstGeom prst="ellipse">
            <a:avLst/>
          </a:prstGeom>
          <a:solidFill>
            <a:srgbClr val="FF6B35"/>
          </a:solidFill>
          <a:ln/>
        </p:spPr>
      </p:sp>
      <p:pic>
        <p:nvPicPr>
          <p:cNvPr id="27" name="Image 6" descr="preencoded.png"/>
          <p:cNvPicPr>
            <a:picLocks noChangeAspect="1"/>
          </p:cNvPicPr>
          <p:nvPr/>
        </p:nvPicPr>
        <p:blipFill>
          <a:blip r:embed="rId8"/>
          <a:stretch>
            <a:fillRect/>
          </a:stretch>
        </p:blipFill>
        <p:spPr>
          <a:xfrm>
            <a:off x="4495008" y="4426428"/>
            <a:ext cx="327721" cy="327721"/>
          </a:xfrm>
          <a:prstGeom prst="rect">
            <a:avLst/>
          </a:prstGeom>
        </p:spPr>
      </p:pic>
      <p:sp>
        <p:nvSpPr>
          <p:cNvPr id="28" name="Text 19"/>
          <p:cNvSpPr/>
          <p:nvPr/>
        </p:nvSpPr>
        <p:spPr>
          <a:xfrm>
            <a:off x="3493008" y="5074920"/>
            <a:ext cx="2331720" cy="777240"/>
          </a:xfrm>
          <a:prstGeom prst="rect">
            <a:avLst/>
          </a:prstGeom>
          <a:noFill/>
          <a:ln/>
        </p:spPr>
        <p:txBody>
          <a:bodyPr wrap="square" rtlCol="0" anchor="t"/>
          <a:lstStyle/>
          <a:p>
            <a:pPr marL="0" indent="0" algn="ctr">
              <a:lnSpc>
                <a:spcPct val="110000"/>
              </a:lnSpc>
              <a:buNone/>
            </a:pPr>
            <a:r>
              <a:rPr lang="en-US" sz="1300" b="1" dirty="0">
                <a:solidFill>
                  <a:srgbClr val="1A1A1A"/>
                </a:solidFill>
                <a:latin typeface="Calibri" pitchFamily="34" charset="0"/>
                <a:ea typeface="Calibri" pitchFamily="34" charset="-122"/>
                <a:cs typeface="Calibri" pitchFamily="34" charset="-120"/>
              </a:rPr>
              <a:t>KPI Cards</a:t>
            </a:r>
            <a:endParaRPr lang="en-US" sz="1300" dirty="0"/>
          </a:p>
        </p:txBody>
      </p:sp>
      <p:sp>
        <p:nvSpPr>
          <p:cNvPr id="29" name="Shape 20"/>
          <p:cNvSpPr/>
          <p:nvPr/>
        </p:nvSpPr>
        <p:spPr>
          <a:xfrm>
            <a:off x="6163056" y="4023360"/>
            <a:ext cx="2606040" cy="1965960"/>
          </a:xfrm>
          <a:prstGeom prst="roundRect">
            <a:avLst>
              <a:gd name="adj" fmla="val 4186"/>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30" name="Shape 21"/>
          <p:cNvSpPr/>
          <p:nvPr/>
        </p:nvSpPr>
        <p:spPr>
          <a:xfrm>
            <a:off x="7173468" y="4297680"/>
            <a:ext cx="585216" cy="585216"/>
          </a:xfrm>
          <a:prstGeom prst="ellipse">
            <a:avLst/>
          </a:prstGeom>
          <a:solidFill>
            <a:srgbClr val="FF6B35"/>
          </a:solidFill>
          <a:ln/>
        </p:spPr>
      </p:sp>
      <p:pic>
        <p:nvPicPr>
          <p:cNvPr id="31" name="Image 7" descr="preencoded.png"/>
          <p:cNvPicPr>
            <a:picLocks noChangeAspect="1"/>
          </p:cNvPicPr>
          <p:nvPr/>
        </p:nvPicPr>
        <p:blipFill>
          <a:blip r:embed="rId9"/>
          <a:stretch>
            <a:fillRect/>
          </a:stretch>
        </p:blipFill>
        <p:spPr>
          <a:xfrm>
            <a:off x="7302216" y="4426428"/>
            <a:ext cx="327721" cy="327721"/>
          </a:xfrm>
          <a:prstGeom prst="rect">
            <a:avLst/>
          </a:prstGeom>
        </p:spPr>
      </p:pic>
      <p:sp>
        <p:nvSpPr>
          <p:cNvPr id="32" name="Text 22"/>
          <p:cNvSpPr/>
          <p:nvPr/>
        </p:nvSpPr>
        <p:spPr>
          <a:xfrm>
            <a:off x="6300216" y="5074920"/>
            <a:ext cx="2331720" cy="777240"/>
          </a:xfrm>
          <a:prstGeom prst="rect">
            <a:avLst/>
          </a:prstGeom>
          <a:noFill/>
          <a:ln/>
        </p:spPr>
        <p:txBody>
          <a:bodyPr wrap="square" rtlCol="0" anchor="t"/>
          <a:lstStyle/>
          <a:p>
            <a:pPr marL="0" indent="0" algn="ctr">
              <a:lnSpc>
                <a:spcPct val="110000"/>
              </a:lnSpc>
              <a:buNone/>
            </a:pPr>
            <a:r>
              <a:rPr lang="en-US" sz="1300" b="1" dirty="0">
                <a:solidFill>
                  <a:srgbClr val="1A1A1A"/>
                </a:solidFill>
                <a:latin typeface="Calibri" pitchFamily="34" charset="0"/>
                <a:ea typeface="Calibri" pitchFamily="34" charset="-122"/>
                <a:cs typeface="Calibri" pitchFamily="34" charset="-120"/>
              </a:rPr>
              <a:t>Business Insights &amp; Recommendations</a:t>
            </a:r>
            <a:endParaRPr lang="en-US" sz="1300" dirty="0"/>
          </a:p>
        </p:txBody>
      </p:sp>
      <p:sp>
        <p:nvSpPr>
          <p:cNvPr id="33" name="Text 23"/>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A66"/>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34" name="Text 24"/>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6A6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8961120" y="-2377440"/>
            <a:ext cx="5943600" cy="5943600"/>
          </a:xfrm>
          <a:prstGeom prst="ellipse">
            <a:avLst/>
          </a:prstGeom>
          <a:solidFill>
            <a:srgbClr val="E8511F">
              <a:alpha val="18000"/>
            </a:srgbClr>
          </a:solidFill>
          <a:ln/>
        </p:spPr>
      </p:sp>
      <p:sp>
        <p:nvSpPr>
          <p:cNvPr id="3" name="Shape 1"/>
          <p:cNvSpPr/>
          <p:nvPr/>
        </p:nvSpPr>
        <p:spPr>
          <a:xfrm>
            <a:off x="-2194560" y="4389120"/>
            <a:ext cx="5029200" cy="5029200"/>
          </a:xfrm>
          <a:prstGeom prst="ellipse">
            <a:avLst/>
          </a:prstGeom>
          <a:solidFill>
            <a:srgbClr val="FF6B35">
              <a:alpha val="12000"/>
            </a:srgbClr>
          </a:solidFill>
          <a:ln/>
        </p:spPr>
      </p:sp>
      <p:sp>
        <p:nvSpPr>
          <p:cNvPr id="4" name="Shape 2"/>
          <p:cNvSpPr/>
          <p:nvPr/>
        </p:nvSpPr>
        <p:spPr>
          <a:xfrm>
            <a:off x="548640" y="502920"/>
            <a:ext cx="566928" cy="566928"/>
          </a:xfrm>
          <a:prstGeom prst="ellipse">
            <a:avLst/>
          </a:prstGeom>
          <a:solidFill>
            <a:srgbClr val="FF6B35"/>
          </a:solidFill>
          <a:ln/>
        </p:spPr>
      </p:sp>
      <p:pic>
        <p:nvPicPr>
          <p:cNvPr id="5"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6" name="Text 3"/>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Technologies Used</a:t>
            </a:r>
            <a:endParaRPr lang="en-US" sz="3000" dirty="0"/>
          </a:p>
        </p:txBody>
      </p:sp>
      <p:sp>
        <p:nvSpPr>
          <p:cNvPr id="7" name="Shape 4"/>
          <p:cNvSpPr/>
          <p:nvPr/>
        </p:nvSpPr>
        <p:spPr>
          <a:xfrm>
            <a:off x="548640" y="1783080"/>
            <a:ext cx="2606040" cy="1920240"/>
          </a:xfrm>
          <a:prstGeom prst="roundRect">
            <a:avLst>
              <a:gd name="adj" fmla="val 4286"/>
            </a:avLst>
          </a:prstGeom>
          <a:solidFill>
            <a:srgbClr val="1B1B1B"/>
          </a:solidFill>
          <a:ln w="12700">
            <a:solidFill>
              <a:srgbClr val="2A2A2A"/>
            </a:solidFill>
            <a:prstDash val="solid"/>
          </a:ln>
        </p:spPr>
      </p:sp>
      <p:sp>
        <p:nvSpPr>
          <p:cNvPr id="8" name="Shape 5"/>
          <p:cNvSpPr/>
          <p:nvPr/>
        </p:nvSpPr>
        <p:spPr>
          <a:xfrm>
            <a:off x="1559052" y="2075688"/>
            <a:ext cx="585216" cy="585216"/>
          </a:xfrm>
          <a:prstGeom prst="ellipse">
            <a:avLst/>
          </a:prstGeom>
          <a:solidFill>
            <a:srgbClr val="FF6B35"/>
          </a:solidFill>
          <a:ln/>
        </p:spPr>
      </p:sp>
      <p:pic>
        <p:nvPicPr>
          <p:cNvPr id="9" name="Image 1" descr="preencoded.png"/>
          <p:cNvPicPr>
            <a:picLocks noChangeAspect="1"/>
          </p:cNvPicPr>
          <p:nvPr/>
        </p:nvPicPr>
        <p:blipFill>
          <a:blip r:embed="rId4"/>
          <a:stretch>
            <a:fillRect/>
          </a:stretch>
        </p:blipFill>
        <p:spPr>
          <a:xfrm>
            <a:off x="1687800" y="2204436"/>
            <a:ext cx="327721" cy="327721"/>
          </a:xfrm>
          <a:prstGeom prst="rect">
            <a:avLst/>
          </a:prstGeom>
        </p:spPr>
      </p:pic>
      <p:sp>
        <p:nvSpPr>
          <p:cNvPr id="10" name="Text 6"/>
          <p:cNvSpPr/>
          <p:nvPr/>
        </p:nvSpPr>
        <p:spPr>
          <a:xfrm>
            <a:off x="685800" y="2834640"/>
            <a:ext cx="2331720" cy="54864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Python</a:t>
            </a:r>
            <a:endParaRPr lang="en-US" sz="1400" dirty="0"/>
          </a:p>
        </p:txBody>
      </p:sp>
      <p:sp>
        <p:nvSpPr>
          <p:cNvPr id="11" name="Shape 7"/>
          <p:cNvSpPr/>
          <p:nvPr/>
        </p:nvSpPr>
        <p:spPr>
          <a:xfrm>
            <a:off x="3355848" y="1783080"/>
            <a:ext cx="2606040" cy="1920240"/>
          </a:xfrm>
          <a:prstGeom prst="roundRect">
            <a:avLst>
              <a:gd name="adj" fmla="val 4286"/>
            </a:avLst>
          </a:prstGeom>
          <a:solidFill>
            <a:srgbClr val="1B1B1B"/>
          </a:solidFill>
          <a:ln w="12700">
            <a:solidFill>
              <a:srgbClr val="2A2A2A"/>
            </a:solidFill>
            <a:prstDash val="solid"/>
          </a:ln>
        </p:spPr>
      </p:sp>
      <p:sp>
        <p:nvSpPr>
          <p:cNvPr id="12" name="Shape 8"/>
          <p:cNvSpPr/>
          <p:nvPr/>
        </p:nvSpPr>
        <p:spPr>
          <a:xfrm>
            <a:off x="4366260" y="2075688"/>
            <a:ext cx="585216" cy="585216"/>
          </a:xfrm>
          <a:prstGeom prst="ellipse">
            <a:avLst/>
          </a:prstGeom>
          <a:solidFill>
            <a:srgbClr val="FF6B35"/>
          </a:solidFill>
          <a:ln/>
        </p:spPr>
      </p:sp>
      <p:pic>
        <p:nvPicPr>
          <p:cNvPr id="13" name="Image 2" descr="preencoded.png"/>
          <p:cNvPicPr>
            <a:picLocks noChangeAspect="1"/>
          </p:cNvPicPr>
          <p:nvPr/>
        </p:nvPicPr>
        <p:blipFill>
          <a:blip r:embed="rId5"/>
          <a:stretch>
            <a:fillRect/>
          </a:stretch>
        </p:blipFill>
        <p:spPr>
          <a:xfrm>
            <a:off x="4495008" y="2204436"/>
            <a:ext cx="327721" cy="327721"/>
          </a:xfrm>
          <a:prstGeom prst="rect">
            <a:avLst/>
          </a:prstGeom>
        </p:spPr>
      </p:pic>
      <p:sp>
        <p:nvSpPr>
          <p:cNvPr id="14" name="Text 9"/>
          <p:cNvSpPr/>
          <p:nvPr/>
        </p:nvSpPr>
        <p:spPr>
          <a:xfrm>
            <a:off x="3493008" y="2834640"/>
            <a:ext cx="2331720" cy="54864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Pandas</a:t>
            </a:r>
            <a:endParaRPr lang="en-US" sz="1400" dirty="0"/>
          </a:p>
        </p:txBody>
      </p:sp>
      <p:sp>
        <p:nvSpPr>
          <p:cNvPr id="15" name="Shape 10"/>
          <p:cNvSpPr/>
          <p:nvPr/>
        </p:nvSpPr>
        <p:spPr>
          <a:xfrm>
            <a:off x="6163056" y="1783080"/>
            <a:ext cx="2606040" cy="1920240"/>
          </a:xfrm>
          <a:prstGeom prst="roundRect">
            <a:avLst>
              <a:gd name="adj" fmla="val 4286"/>
            </a:avLst>
          </a:prstGeom>
          <a:solidFill>
            <a:srgbClr val="1B1B1B"/>
          </a:solidFill>
          <a:ln w="12700">
            <a:solidFill>
              <a:srgbClr val="2A2A2A"/>
            </a:solidFill>
            <a:prstDash val="solid"/>
          </a:ln>
        </p:spPr>
      </p:sp>
      <p:sp>
        <p:nvSpPr>
          <p:cNvPr id="16" name="Shape 11"/>
          <p:cNvSpPr/>
          <p:nvPr/>
        </p:nvSpPr>
        <p:spPr>
          <a:xfrm>
            <a:off x="7173468" y="2075688"/>
            <a:ext cx="585216" cy="585216"/>
          </a:xfrm>
          <a:prstGeom prst="ellipse">
            <a:avLst/>
          </a:prstGeom>
          <a:solidFill>
            <a:srgbClr val="FF6B35"/>
          </a:solidFill>
          <a:ln/>
        </p:spPr>
      </p:sp>
      <p:pic>
        <p:nvPicPr>
          <p:cNvPr id="17" name="Image 3" descr="preencoded.png"/>
          <p:cNvPicPr>
            <a:picLocks noChangeAspect="1"/>
          </p:cNvPicPr>
          <p:nvPr/>
        </p:nvPicPr>
        <p:blipFill>
          <a:blip r:embed="rId6"/>
          <a:stretch>
            <a:fillRect/>
          </a:stretch>
        </p:blipFill>
        <p:spPr>
          <a:xfrm>
            <a:off x="7302216" y="2204436"/>
            <a:ext cx="327721" cy="327721"/>
          </a:xfrm>
          <a:prstGeom prst="rect">
            <a:avLst/>
          </a:prstGeom>
        </p:spPr>
      </p:pic>
      <p:sp>
        <p:nvSpPr>
          <p:cNvPr id="18" name="Text 12"/>
          <p:cNvSpPr/>
          <p:nvPr/>
        </p:nvSpPr>
        <p:spPr>
          <a:xfrm>
            <a:off x="6300216" y="2834640"/>
            <a:ext cx="2331720" cy="54864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Streamlit</a:t>
            </a:r>
            <a:endParaRPr lang="en-US" sz="1400" dirty="0"/>
          </a:p>
        </p:txBody>
      </p:sp>
      <p:sp>
        <p:nvSpPr>
          <p:cNvPr id="19" name="Shape 13"/>
          <p:cNvSpPr/>
          <p:nvPr/>
        </p:nvSpPr>
        <p:spPr>
          <a:xfrm>
            <a:off x="8970264" y="1783080"/>
            <a:ext cx="2606040" cy="1920240"/>
          </a:xfrm>
          <a:prstGeom prst="roundRect">
            <a:avLst>
              <a:gd name="adj" fmla="val 4286"/>
            </a:avLst>
          </a:prstGeom>
          <a:solidFill>
            <a:srgbClr val="1B1B1B"/>
          </a:solidFill>
          <a:ln w="12700">
            <a:solidFill>
              <a:srgbClr val="2A2A2A"/>
            </a:solidFill>
            <a:prstDash val="solid"/>
          </a:ln>
        </p:spPr>
      </p:sp>
      <p:sp>
        <p:nvSpPr>
          <p:cNvPr id="20" name="Shape 14"/>
          <p:cNvSpPr/>
          <p:nvPr/>
        </p:nvSpPr>
        <p:spPr>
          <a:xfrm>
            <a:off x="9980676" y="2075688"/>
            <a:ext cx="585216" cy="585216"/>
          </a:xfrm>
          <a:prstGeom prst="ellipse">
            <a:avLst/>
          </a:prstGeom>
          <a:solidFill>
            <a:srgbClr val="FF6B35"/>
          </a:solidFill>
          <a:ln/>
        </p:spPr>
      </p:sp>
      <p:pic>
        <p:nvPicPr>
          <p:cNvPr id="21" name="Image 4" descr="preencoded.png"/>
          <p:cNvPicPr>
            <a:picLocks noChangeAspect="1"/>
          </p:cNvPicPr>
          <p:nvPr/>
        </p:nvPicPr>
        <p:blipFill>
          <a:blip r:embed="rId7"/>
          <a:stretch>
            <a:fillRect/>
          </a:stretch>
        </p:blipFill>
        <p:spPr>
          <a:xfrm>
            <a:off x="10109424" y="2204436"/>
            <a:ext cx="327721" cy="327721"/>
          </a:xfrm>
          <a:prstGeom prst="rect">
            <a:avLst/>
          </a:prstGeom>
        </p:spPr>
      </p:pic>
      <p:sp>
        <p:nvSpPr>
          <p:cNvPr id="22" name="Text 15"/>
          <p:cNvSpPr/>
          <p:nvPr/>
        </p:nvSpPr>
        <p:spPr>
          <a:xfrm>
            <a:off x="9107424" y="2834640"/>
            <a:ext cx="2331720" cy="54864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Plotly</a:t>
            </a:r>
            <a:endParaRPr lang="en-US" sz="1400" dirty="0"/>
          </a:p>
        </p:txBody>
      </p:sp>
      <p:sp>
        <p:nvSpPr>
          <p:cNvPr id="23" name="Shape 16"/>
          <p:cNvSpPr/>
          <p:nvPr/>
        </p:nvSpPr>
        <p:spPr>
          <a:xfrm>
            <a:off x="548640" y="3977640"/>
            <a:ext cx="2606040" cy="1920240"/>
          </a:xfrm>
          <a:prstGeom prst="roundRect">
            <a:avLst>
              <a:gd name="adj" fmla="val 4286"/>
            </a:avLst>
          </a:prstGeom>
          <a:solidFill>
            <a:srgbClr val="1B1B1B"/>
          </a:solidFill>
          <a:ln w="12700">
            <a:solidFill>
              <a:srgbClr val="2A2A2A"/>
            </a:solidFill>
            <a:prstDash val="solid"/>
          </a:ln>
        </p:spPr>
      </p:sp>
      <p:sp>
        <p:nvSpPr>
          <p:cNvPr id="24" name="Shape 17"/>
          <p:cNvSpPr/>
          <p:nvPr/>
        </p:nvSpPr>
        <p:spPr>
          <a:xfrm>
            <a:off x="1559052" y="4270248"/>
            <a:ext cx="585216" cy="585216"/>
          </a:xfrm>
          <a:prstGeom prst="ellipse">
            <a:avLst/>
          </a:prstGeom>
          <a:solidFill>
            <a:srgbClr val="FF6B35"/>
          </a:solidFill>
          <a:ln/>
        </p:spPr>
      </p:sp>
      <p:pic>
        <p:nvPicPr>
          <p:cNvPr id="25" name="Image 5" descr="preencoded.png"/>
          <p:cNvPicPr>
            <a:picLocks noChangeAspect="1"/>
          </p:cNvPicPr>
          <p:nvPr/>
        </p:nvPicPr>
        <p:blipFill>
          <a:blip r:embed="rId8"/>
          <a:stretch>
            <a:fillRect/>
          </a:stretch>
        </p:blipFill>
        <p:spPr>
          <a:xfrm>
            <a:off x="1687800" y="4398996"/>
            <a:ext cx="327721" cy="327721"/>
          </a:xfrm>
          <a:prstGeom prst="rect">
            <a:avLst/>
          </a:prstGeom>
        </p:spPr>
      </p:pic>
      <p:sp>
        <p:nvSpPr>
          <p:cNvPr id="26" name="Text 18"/>
          <p:cNvSpPr/>
          <p:nvPr/>
        </p:nvSpPr>
        <p:spPr>
          <a:xfrm>
            <a:off x="685800" y="5029200"/>
            <a:ext cx="2331720" cy="54864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Matplotlib</a:t>
            </a:r>
            <a:endParaRPr lang="en-US" sz="1400" dirty="0"/>
          </a:p>
        </p:txBody>
      </p:sp>
      <p:sp>
        <p:nvSpPr>
          <p:cNvPr id="27" name="Shape 19"/>
          <p:cNvSpPr/>
          <p:nvPr/>
        </p:nvSpPr>
        <p:spPr>
          <a:xfrm>
            <a:off x="3355848" y="3977640"/>
            <a:ext cx="2606040" cy="1920240"/>
          </a:xfrm>
          <a:prstGeom prst="roundRect">
            <a:avLst>
              <a:gd name="adj" fmla="val 4286"/>
            </a:avLst>
          </a:prstGeom>
          <a:solidFill>
            <a:srgbClr val="1B1B1B"/>
          </a:solidFill>
          <a:ln w="12700">
            <a:solidFill>
              <a:srgbClr val="2A2A2A"/>
            </a:solidFill>
            <a:prstDash val="solid"/>
          </a:ln>
        </p:spPr>
      </p:sp>
      <p:sp>
        <p:nvSpPr>
          <p:cNvPr id="28" name="Shape 20"/>
          <p:cNvSpPr/>
          <p:nvPr/>
        </p:nvSpPr>
        <p:spPr>
          <a:xfrm>
            <a:off x="4366260" y="4270248"/>
            <a:ext cx="585216" cy="585216"/>
          </a:xfrm>
          <a:prstGeom prst="ellipse">
            <a:avLst/>
          </a:prstGeom>
          <a:solidFill>
            <a:srgbClr val="FF6B35"/>
          </a:solidFill>
          <a:ln/>
        </p:spPr>
      </p:sp>
      <p:pic>
        <p:nvPicPr>
          <p:cNvPr id="29" name="Image 6" descr="preencoded.png"/>
          <p:cNvPicPr>
            <a:picLocks noChangeAspect="1"/>
          </p:cNvPicPr>
          <p:nvPr/>
        </p:nvPicPr>
        <p:blipFill>
          <a:blip r:embed="rId9"/>
          <a:stretch>
            <a:fillRect/>
          </a:stretch>
        </p:blipFill>
        <p:spPr>
          <a:xfrm>
            <a:off x="4495008" y="4398996"/>
            <a:ext cx="327721" cy="327721"/>
          </a:xfrm>
          <a:prstGeom prst="rect">
            <a:avLst/>
          </a:prstGeom>
        </p:spPr>
      </p:pic>
      <p:sp>
        <p:nvSpPr>
          <p:cNvPr id="30" name="Text 21"/>
          <p:cNvSpPr/>
          <p:nvPr/>
        </p:nvSpPr>
        <p:spPr>
          <a:xfrm>
            <a:off x="3493008" y="5029200"/>
            <a:ext cx="2331720" cy="54864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Seaborn</a:t>
            </a:r>
            <a:endParaRPr lang="en-US" sz="1400" dirty="0"/>
          </a:p>
        </p:txBody>
      </p:sp>
      <p:sp>
        <p:nvSpPr>
          <p:cNvPr id="31" name="Shape 22"/>
          <p:cNvSpPr/>
          <p:nvPr/>
        </p:nvSpPr>
        <p:spPr>
          <a:xfrm>
            <a:off x="6163056" y="3977640"/>
            <a:ext cx="2606040" cy="1920240"/>
          </a:xfrm>
          <a:prstGeom prst="roundRect">
            <a:avLst>
              <a:gd name="adj" fmla="val 4286"/>
            </a:avLst>
          </a:prstGeom>
          <a:solidFill>
            <a:srgbClr val="1B1B1B"/>
          </a:solidFill>
          <a:ln w="12700">
            <a:solidFill>
              <a:srgbClr val="2A2A2A"/>
            </a:solidFill>
            <a:prstDash val="solid"/>
          </a:ln>
        </p:spPr>
      </p:sp>
      <p:sp>
        <p:nvSpPr>
          <p:cNvPr id="32" name="Shape 23"/>
          <p:cNvSpPr/>
          <p:nvPr/>
        </p:nvSpPr>
        <p:spPr>
          <a:xfrm>
            <a:off x="7173468" y="4270248"/>
            <a:ext cx="585216" cy="585216"/>
          </a:xfrm>
          <a:prstGeom prst="ellipse">
            <a:avLst/>
          </a:prstGeom>
          <a:solidFill>
            <a:srgbClr val="FF6B35"/>
          </a:solidFill>
          <a:ln/>
        </p:spPr>
      </p:sp>
      <p:pic>
        <p:nvPicPr>
          <p:cNvPr id="33" name="Image 7" descr="preencoded.png"/>
          <p:cNvPicPr>
            <a:picLocks noChangeAspect="1"/>
          </p:cNvPicPr>
          <p:nvPr/>
        </p:nvPicPr>
        <p:blipFill>
          <a:blip r:embed="rId10"/>
          <a:stretch>
            <a:fillRect/>
          </a:stretch>
        </p:blipFill>
        <p:spPr>
          <a:xfrm>
            <a:off x="7302216" y="4398996"/>
            <a:ext cx="327721" cy="327721"/>
          </a:xfrm>
          <a:prstGeom prst="rect">
            <a:avLst/>
          </a:prstGeom>
        </p:spPr>
      </p:pic>
      <p:sp>
        <p:nvSpPr>
          <p:cNvPr id="34" name="Text 24"/>
          <p:cNvSpPr/>
          <p:nvPr/>
        </p:nvSpPr>
        <p:spPr>
          <a:xfrm>
            <a:off x="6300216" y="5029200"/>
            <a:ext cx="2331720" cy="54864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GitHub</a:t>
            </a:r>
            <a:endParaRPr lang="en-US" sz="1400" dirty="0"/>
          </a:p>
        </p:txBody>
      </p:sp>
      <p:sp>
        <p:nvSpPr>
          <p:cNvPr id="35" name="Shape 25"/>
          <p:cNvSpPr/>
          <p:nvPr/>
        </p:nvSpPr>
        <p:spPr>
          <a:xfrm>
            <a:off x="8970264" y="3977640"/>
            <a:ext cx="2606040" cy="1920240"/>
          </a:xfrm>
          <a:prstGeom prst="roundRect">
            <a:avLst>
              <a:gd name="adj" fmla="val 4286"/>
            </a:avLst>
          </a:prstGeom>
          <a:solidFill>
            <a:srgbClr val="1B1B1B"/>
          </a:solidFill>
          <a:ln w="12700">
            <a:solidFill>
              <a:srgbClr val="2A2A2A"/>
            </a:solidFill>
            <a:prstDash val="solid"/>
          </a:ln>
        </p:spPr>
      </p:sp>
      <p:sp>
        <p:nvSpPr>
          <p:cNvPr id="36" name="Shape 26"/>
          <p:cNvSpPr/>
          <p:nvPr/>
        </p:nvSpPr>
        <p:spPr>
          <a:xfrm>
            <a:off x="9980676" y="4270248"/>
            <a:ext cx="585216" cy="585216"/>
          </a:xfrm>
          <a:prstGeom prst="ellipse">
            <a:avLst/>
          </a:prstGeom>
          <a:solidFill>
            <a:srgbClr val="FF6B35"/>
          </a:solidFill>
          <a:ln/>
        </p:spPr>
      </p:sp>
      <p:pic>
        <p:nvPicPr>
          <p:cNvPr id="37" name="Image 8" descr="preencoded.png"/>
          <p:cNvPicPr>
            <a:picLocks noChangeAspect="1"/>
          </p:cNvPicPr>
          <p:nvPr/>
        </p:nvPicPr>
        <p:blipFill>
          <a:blip r:embed="rId11"/>
          <a:stretch>
            <a:fillRect/>
          </a:stretch>
        </p:blipFill>
        <p:spPr>
          <a:xfrm>
            <a:off x="10109424" y="4398996"/>
            <a:ext cx="327721" cy="327721"/>
          </a:xfrm>
          <a:prstGeom prst="rect">
            <a:avLst/>
          </a:prstGeom>
        </p:spPr>
      </p:pic>
      <p:sp>
        <p:nvSpPr>
          <p:cNvPr id="38" name="Text 27"/>
          <p:cNvSpPr/>
          <p:nvPr/>
        </p:nvSpPr>
        <p:spPr>
          <a:xfrm>
            <a:off x="9107424" y="5029200"/>
            <a:ext cx="2331720" cy="548640"/>
          </a:xfrm>
          <a:prstGeom prst="rect">
            <a:avLst/>
          </a:prstGeom>
          <a:noFill/>
          <a:ln/>
        </p:spPr>
        <p:txBody>
          <a:bodyPr wrap="square"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Streamlit Cloud</a:t>
            </a:r>
            <a:endParaRPr lang="en-US" sz="1400" dirty="0"/>
          </a:p>
        </p:txBody>
      </p:sp>
      <p:sp>
        <p:nvSpPr>
          <p:cNvPr id="39" name="Text 28"/>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9A9A9A"/>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40" name="Text 29"/>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9A9A9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F6B35"/>
          </a:solidFill>
          <a:ln/>
        </p:spPr>
      </p:sp>
      <p:pic>
        <p:nvPicPr>
          <p:cNvPr id="3"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4" name="Text 1"/>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1A1A1A"/>
                </a:solidFill>
                <a:latin typeface="Cambria" pitchFamily="34" charset="0"/>
                <a:ea typeface="Cambria" pitchFamily="34" charset="-122"/>
                <a:cs typeface="Cambria" pitchFamily="34" charset="-120"/>
              </a:rPr>
              <a:t>Project Workflow</a:t>
            </a:r>
            <a:endParaRPr lang="en-US" sz="3000" dirty="0"/>
          </a:p>
        </p:txBody>
      </p:sp>
      <p:sp>
        <p:nvSpPr>
          <p:cNvPr id="5" name="Text 2"/>
          <p:cNvSpPr/>
          <p:nvPr/>
        </p:nvSpPr>
        <p:spPr>
          <a:xfrm>
            <a:off x="548640" y="2331720"/>
            <a:ext cx="1849069" cy="365760"/>
          </a:xfrm>
          <a:prstGeom prst="rect">
            <a:avLst/>
          </a:prstGeom>
          <a:noFill/>
          <a:ln/>
        </p:spPr>
        <p:txBody>
          <a:bodyPr wrap="square" rtlCol="0" anchor="ctr"/>
          <a:lstStyle/>
          <a:p>
            <a:pPr marL="0" indent="0" algn="ctr">
              <a:buNone/>
            </a:pPr>
            <a:r>
              <a:rPr lang="en-US" sz="1300" b="1" dirty="0">
                <a:solidFill>
                  <a:srgbClr val="FF6B35"/>
                </a:solidFill>
                <a:latin typeface="Cambria" pitchFamily="34" charset="0"/>
                <a:ea typeface="Cambria" pitchFamily="34" charset="-122"/>
                <a:cs typeface="Cambria" pitchFamily="34" charset="-120"/>
              </a:rPr>
              <a:t>01</a:t>
            </a:r>
            <a:endParaRPr lang="en-US" sz="1300" dirty="0"/>
          </a:p>
        </p:txBody>
      </p:sp>
      <p:sp>
        <p:nvSpPr>
          <p:cNvPr id="6" name="Shape 3"/>
          <p:cNvSpPr/>
          <p:nvPr/>
        </p:nvSpPr>
        <p:spPr>
          <a:xfrm>
            <a:off x="993115" y="2834640"/>
            <a:ext cx="960120" cy="960120"/>
          </a:xfrm>
          <a:prstGeom prst="ellipse">
            <a:avLst/>
          </a:prstGeom>
          <a:solidFill>
            <a:srgbClr val="FF6B35"/>
          </a:solidFill>
          <a:ln/>
        </p:spPr>
      </p:sp>
      <p:pic>
        <p:nvPicPr>
          <p:cNvPr id="7" name="Image 1" descr="preencoded.png"/>
          <p:cNvPicPr>
            <a:picLocks noChangeAspect="1"/>
          </p:cNvPicPr>
          <p:nvPr/>
        </p:nvPicPr>
        <p:blipFill>
          <a:blip r:embed="rId4"/>
          <a:stretch>
            <a:fillRect/>
          </a:stretch>
        </p:blipFill>
        <p:spPr>
          <a:xfrm>
            <a:off x="1204341" y="3045866"/>
            <a:ext cx="537667" cy="537667"/>
          </a:xfrm>
          <a:prstGeom prst="rect">
            <a:avLst/>
          </a:prstGeom>
        </p:spPr>
      </p:pic>
      <p:sp>
        <p:nvSpPr>
          <p:cNvPr id="8" name="Text 4"/>
          <p:cNvSpPr/>
          <p:nvPr/>
        </p:nvSpPr>
        <p:spPr>
          <a:xfrm>
            <a:off x="594360" y="3959352"/>
            <a:ext cx="1757629" cy="640080"/>
          </a:xfrm>
          <a:prstGeom prst="rect">
            <a:avLst/>
          </a:prstGeom>
          <a:noFill/>
          <a:ln/>
        </p:spPr>
        <p:txBody>
          <a:bodyPr wrap="square" rtlCol="0" anchor="t"/>
          <a:lstStyle/>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Data</a:t>
            </a:r>
            <a:endParaRPr lang="en-US" sz="1250" dirty="0"/>
          </a:p>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Collection</a:t>
            </a:r>
            <a:endParaRPr lang="en-US" sz="1250" dirty="0"/>
          </a:p>
        </p:txBody>
      </p:sp>
      <p:sp>
        <p:nvSpPr>
          <p:cNvPr id="9" name="Text 5"/>
          <p:cNvSpPr/>
          <p:nvPr/>
        </p:nvSpPr>
        <p:spPr>
          <a:xfrm>
            <a:off x="2141677" y="3022092"/>
            <a:ext cx="457200" cy="548640"/>
          </a:xfrm>
          <a:prstGeom prst="rect">
            <a:avLst/>
          </a:prstGeom>
          <a:noFill/>
          <a:ln/>
        </p:spPr>
        <p:txBody>
          <a:bodyPr wrap="square" rtlCol="0" anchor="ctr"/>
          <a:lstStyle/>
          <a:p>
            <a:pPr marL="0" indent="0" algn="ctr">
              <a:buNone/>
            </a:pPr>
            <a:r>
              <a:rPr lang="en-US" sz="3000" b="1" dirty="0">
                <a:solidFill>
                  <a:srgbClr val="FFB800"/>
                </a:solidFill>
                <a:latin typeface="Calibri" pitchFamily="34" charset="0"/>
                <a:ea typeface="Calibri" pitchFamily="34" charset="-122"/>
                <a:cs typeface="Calibri" pitchFamily="34" charset="-120"/>
              </a:rPr>
              <a:t>›</a:t>
            </a:r>
            <a:endParaRPr lang="en-US" sz="3000" dirty="0"/>
          </a:p>
        </p:txBody>
      </p:sp>
      <p:sp>
        <p:nvSpPr>
          <p:cNvPr id="10" name="Text 6"/>
          <p:cNvSpPr/>
          <p:nvPr/>
        </p:nvSpPr>
        <p:spPr>
          <a:xfrm>
            <a:off x="2397709" y="2331720"/>
            <a:ext cx="1849069" cy="365760"/>
          </a:xfrm>
          <a:prstGeom prst="rect">
            <a:avLst/>
          </a:prstGeom>
          <a:noFill/>
          <a:ln/>
        </p:spPr>
        <p:txBody>
          <a:bodyPr wrap="square" rtlCol="0" anchor="ctr"/>
          <a:lstStyle/>
          <a:p>
            <a:pPr marL="0" indent="0" algn="ctr">
              <a:buNone/>
            </a:pPr>
            <a:r>
              <a:rPr lang="en-US" sz="1300" b="1" dirty="0">
                <a:solidFill>
                  <a:srgbClr val="FF6B35"/>
                </a:solidFill>
                <a:latin typeface="Cambria" pitchFamily="34" charset="0"/>
                <a:ea typeface="Cambria" pitchFamily="34" charset="-122"/>
                <a:cs typeface="Cambria" pitchFamily="34" charset="-120"/>
              </a:rPr>
              <a:t>02</a:t>
            </a:r>
            <a:endParaRPr lang="en-US" sz="1300" dirty="0"/>
          </a:p>
        </p:txBody>
      </p:sp>
      <p:sp>
        <p:nvSpPr>
          <p:cNvPr id="11" name="Shape 7"/>
          <p:cNvSpPr/>
          <p:nvPr/>
        </p:nvSpPr>
        <p:spPr>
          <a:xfrm>
            <a:off x="2842184" y="2834640"/>
            <a:ext cx="960120" cy="960120"/>
          </a:xfrm>
          <a:prstGeom prst="ellipse">
            <a:avLst/>
          </a:prstGeom>
          <a:solidFill>
            <a:srgbClr val="FF6B35"/>
          </a:solidFill>
          <a:ln/>
        </p:spPr>
      </p:sp>
      <p:pic>
        <p:nvPicPr>
          <p:cNvPr id="12" name="Image 2" descr="preencoded.png"/>
          <p:cNvPicPr>
            <a:picLocks noChangeAspect="1"/>
          </p:cNvPicPr>
          <p:nvPr/>
        </p:nvPicPr>
        <p:blipFill>
          <a:blip r:embed="rId5"/>
          <a:stretch>
            <a:fillRect/>
          </a:stretch>
        </p:blipFill>
        <p:spPr>
          <a:xfrm>
            <a:off x="3053410" y="3045866"/>
            <a:ext cx="537667" cy="537667"/>
          </a:xfrm>
          <a:prstGeom prst="rect">
            <a:avLst/>
          </a:prstGeom>
        </p:spPr>
      </p:pic>
      <p:sp>
        <p:nvSpPr>
          <p:cNvPr id="13" name="Text 8"/>
          <p:cNvSpPr/>
          <p:nvPr/>
        </p:nvSpPr>
        <p:spPr>
          <a:xfrm>
            <a:off x="2443429" y="3959352"/>
            <a:ext cx="1757629" cy="640080"/>
          </a:xfrm>
          <a:prstGeom prst="rect">
            <a:avLst/>
          </a:prstGeom>
          <a:noFill/>
          <a:ln/>
        </p:spPr>
        <p:txBody>
          <a:bodyPr wrap="square" rtlCol="0" anchor="t"/>
          <a:lstStyle/>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Data</a:t>
            </a:r>
            <a:endParaRPr lang="en-US" sz="1250" dirty="0"/>
          </a:p>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Cleaning</a:t>
            </a:r>
            <a:endParaRPr lang="en-US" sz="1250" dirty="0"/>
          </a:p>
        </p:txBody>
      </p:sp>
      <p:sp>
        <p:nvSpPr>
          <p:cNvPr id="14" name="Text 9"/>
          <p:cNvSpPr/>
          <p:nvPr/>
        </p:nvSpPr>
        <p:spPr>
          <a:xfrm>
            <a:off x="3990746" y="3022092"/>
            <a:ext cx="457200" cy="548640"/>
          </a:xfrm>
          <a:prstGeom prst="rect">
            <a:avLst/>
          </a:prstGeom>
          <a:noFill/>
          <a:ln/>
        </p:spPr>
        <p:txBody>
          <a:bodyPr wrap="square" rtlCol="0" anchor="ctr"/>
          <a:lstStyle/>
          <a:p>
            <a:pPr marL="0" indent="0" algn="ctr">
              <a:buNone/>
            </a:pPr>
            <a:r>
              <a:rPr lang="en-US" sz="3000" b="1" dirty="0">
                <a:solidFill>
                  <a:srgbClr val="FFB800"/>
                </a:solidFill>
                <a:latin typeface="Calibri" pitchFamily="34" charset="0"/>
                <a:ea typeface="Calibri" pitchFamily="34" charset="-122"/>
                <a:cs typeface="Calibri" pitchFamily="34" charset="-120"/>
              </a:rPr>
              <a:t>›</a:t>
            </a:r>
            <a:endParaRPr lang="en-US" sz="3000" dirty="0"/>
          </a:p>
        </p:txBody>
      </p:sp>
      <p:sp>
        <p:nvSpPr>
          <p:cNvPr id="15" name="Text 10"/>
          <p:cNvSpPr/>
          <p:nvPr/>
        </p:nvSpPr>
        <p:spPr>
          <a:xfrm>
            <a:off x="4246778" y="2331720"/>
            <a:ext cx="1849069" cy="365760"/>
          </a:xfrm>
          <a:prstGeom prst="rect">
            <a:avLst/>
          </a:prstGeom>
          <a:noFill/>
          <a:ln/>
        </p:spPr>
        <p:txBody>
          <a:bodyPr wrap="square" rtlCol="0" anchor="ctr"/>
          <a:lstStyle/>
          <a:p>
            <a:pPr marL="0" indent="0" algn="ctr">
              <a:buNone/>
            </a:pPr>
            <a:r>
              <a:rPr lang="en-US" sz="1300" b="1" dirty="0">
                <a:solidFill>
                  <a:srgbClr val="FF6B35"/>
                </a:solidFill>
                <a:latin typeface="Cambria" pitchFamily="34" charset="0"/>
                <a:ea typeface="Cambria" pitchFamily="34" charset="-122"/>
                <a:cs typeface="Cambria" pitchFamily="34" charset="-120"/>
              </a:rPr>
              <a:t>03</a:t>
            </a:r>
            <a:endParaRPr lang="en-US" sz="1300" dirty="0"/>
          </a:p>
        </p:txBody>
      </p:sp>
      <p:sp>
        <p:nvSpPr>
          <p:cNvPr id="16" name="Shape 11"/>
          <p:cNvSpPr/>
          <p:nvPr/>
        </p:nvSpPr>
        <p:spPr>
          <a:xfrm>
            <a:off x="4691253" y="2834640"/>
            <a:ext cx="960120" cy="960120"/>
          </a:xfrm>
          <a:prstGeom prst="ellipse">
            <a:avLst/>
          </a:prstGeom>
          <a:solidFill>
            <a:srgbClr val="FF6B35"/>
          </a:solidFill>
          <a:ln/>
        </p:spPr>
      </p:sp>
      <p:pic>
        <p:nvPicPr>
          <p:cNvPr id="17" name="Image 3" descr="preencoded.png"/>
          <p:cNvPicPr>
            <a:picLocks noChangeAspect="1"/>
          </p:cNvPicPr>
          <p:nvPr/>
        </p:nvPicPr>
        <p:blipFill>
          <a:blip r:embed="rId6"/>
          <a:stretch>
            <a:fillRect/>
          </a:stretch>
        </p:blipFill>
        <p:spPr>
          <a:xfrm>
            <a:off x="4902479" y="3045866"/>
            <a:ext cx="537667" cy="537667"/>
          </a:xfrm>
          <a:prstGeom prst="rect">
            <a:avLst/>
          </a:prstGeom>
        </p:spPr>
      </p:pic>
      <p:sp>
        <p:nvSpPr>
          <p:cNvPr id="18" name="Text 12"/>
          <p:cNvSpPr/>
          <p:nvPr/>
        </p:nvSpPr>
        <p:spPr>
          <a:xfrm>
            <a:off x="4292498" y="3959352"/>
            <a:ext cx="1757629" cy="640080"/>
          </a:xfrm>
          <a:prstGeom prst="rect">
            <a:avLst/>
          </a:prstGeom>
          <a:noFill/>
          <a:ln/>
        </p:spPr>
        <p:txBody>
          <a:bodyPr wrap="square" rtlCol="0" anchor="t"/>
          <a:lstStyle/>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Data</a:t>
            </a:r>
            <a:endParaRPr lang="en-US" sz="1250" dirty="0"/>
          </a:p>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Analysis</a:t>
            </a:r>
            <a:endParaRPr lang="en-US" sz="1250" dirty="0"/>
          </a:p>
        </p:txBody>
      </p:sp>
      <p:sp>
        <p:nvSpPr>
          <p:cNvPr id="19" name="Text 13"/>
          <p:cNvSpPr/>
          <p:nvPr/>
        </p:nvSpPr>
        <p:spPr>
          <a:xfrm>
            <a:off x="5839816" y="3022092"/>
            <a:ext cx="457200" cy="548640"/>
          </a:xfrm>
          <a:prstGeom prst="rect">
            <a:avLst/>
          </a:prstGeom>
          <a:noFill/>
          <a:ln/>
        </p:spPr>
        <p:txBody>
          <a:bodyPr wrap="square" rtlCol="0" anchor="ctr"/>
          <a:lstStyle/>
          <a:p>
            <a:pPr marL="0" indent="0" algn="ctr">
              <a:buNone/>
            </a:pPr>
            <a:r>
              <a:rPr lang="en-US" sz="3000" b="1" dirty="0">
                <a:solidFill>
                  <a:srgbClr val="FFB800"/>
                </a:solidFill>
                <a:latin typeface="Calibri" pitchFamily="34" charset="0"/>
                <a:ea typeface="Calibri" pitchFamily="34" charset="-122"/>
                <a:cs typeface="Calibri" pitchFamily="34" charset="-120"/>
              </a:rPr>
              <a:t>›</a:t>
            </a:r>
            <a:endParaRPr lang="en-US" sz="3000" dirty="0"/>
          </a:p>
        </p:txBody>
      </p:sp>
      <p:sp>
        <p:nvSpPr>
          <p:cNvPr id="20" name="Text 14"/>
          <p:cNvSpPr/>
          <p:nvPr/>
        </p:nvSpPr>
        <p:spPr>
          <a:xfrm>
            <a:off x="6095848" y="2331720"/>
            <a:ext cx="1849069" cy="365760"/>
          </a:xfrm>
          <a:prstGeom prst="rect">
            <a:avLst/>
          </a:prstGeom>
          <a:noFill/>
          <a:ln/>
        </p:spPr>
        <p:txBody>
          <a:bodyPr wrap="square" rtlCol="0" anchor="ctr"/>
          <a:lstStyle/>
          <a:p>
            <a:pPr marL="0" indent="0" algn="ctr">
              <a:buNone/>
            </a:pPr>
            <a:r>
              <a:rPr lang="en-US" sz="1300" b="1" dirty="0">
                <a:solidFill>
                  <a:srgbClr val="FF6B35"/>
                </a:solidFill>
                <a:latin typeface="Cambria" pitchFamily="34" charset="0"/>
                <a:ea typeface="Cambria" pitchFamily="34" charset="-122"/>
                <a:cs typeface="Cambria" pitchFamily="34" charset="-120"/>
              </a:rPr>
              <a:t>04</a:t>
            </a:r>
            <a:endParaRPr lang="en-US" sz="1300" dirty="0"/>
          </a:p>
        </p:txBody>
      </p:sp>
      <p:sp>
        <p:nvSpPr>
          <p:cNvPr id="21" name="Shape 15"/>
          <p:cNvSpPr/>
          <p:nvPr/>
        </p:nvSpPr>
        <p:spPr>
          <a:xfrm>
            <a:off x="6540322" y="2834640"/>
            <a:ext cx="960120" cy="960120"/>
          </a:xfrm>
          <a:prstGeom prst="ellipse">
            <a:avLst/>
          </a:prstGeom>
          <a:solidFill>
            <a:srgbClr val="FF6B35"/>
          </a:solidFill>
          <a:ln/>
        </p:spPr>
      </p:sp>
      <p:pic>
        <p:nvPicPr>
          <p:cNvPr id="22" name="Image 4" descr="preencoded.png"/>
          <p:cNvPicPr>
            <a:picLocks noChangeAspect="1"/>
          </p:cNvPicPr>
          <p:nvPr/>
        </p:nvPicPr>
        <p:blipFill>
          <a:blip r:embed="rId7"/>
          <a:stretch>
            <a:fillRect/>
          </a:stretch>
        </p:blipFill>
        <p:spPr>
          <a:xfrm>
            <a:off x="6751549" y="3045866"/>
            <a:ext cx="537667" cy="537667"/>
          </a:xfrm>
          <a:prstGeom prst="rect">
            <a:avLst/>
          </a:prstGeom>
        </p:spPr>
      </p:pic>
      <p:sp>
        <p:nvSpPr>
          <p:cNvPr id="23" name="Text 16"/>
          <p:cNvSpPr/>
          <p:nvPr/>
        </p:nvSpPr>
        <p:spPr>
          <a:xfrm>
            <a:off x="6141568" y="3959352"/>
            <a:ext cx="1757629" cy="640080"/>
          </a:xfrm>
          <a:prstGeom prst="rect">
            <a:avLst/>
          </a:prstGeom>
          <a:noFill/>
          <a:ln/>
        </p:spPr>
        <p:txBody>
          <a:bodyPr wrap="square" rtlCol="0" anchor="t"/>
          <a:lstStyle/>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Data</a:t>
            </a:r>
            <a:endParaRPr lang="en-US" sz="1250" dirty="0"/>
          </a:p>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Visualization</a:t>
            </a:r>
            <a:endParaRPr lang="en-US" sz="1250" dirty="0"/>
          </a:p>
        </p:txBody>
      </p:sp>
      <p:sp>
        <p:nvSpPr>
          <p:cNvPr id="24" name="Text 17"/>
          <p:cNvSpPr/>
          <p:nvPr/>
        </p:nvSpPr>
        <p:spPr>
          <a:xfrm>
            <a:off x="7688885" y="3022092"/>
            <a:ext cx="457200" cy="548640"/>
          </a:xfrm>
          <a:prstGeom prst="rect">
            <a:avLst/>
          </a:prstGeom>
          <a:noFill/>
          <a:ln/>
        </p:spPr>
        <p:txBody>
          <a:bodyPr wrap="square" rtlCol="0" anchor="ctr"/>
          <a:lstStyle/>
          <a:p>
            <a:pPr marL="0" indent="0" algn="ctr">
              <a:buNone/>
            </a:pPr>
            <a:r>
              <a:rPr lang="en-US" sz="3000" b="1" dirty="0">
                <a:solidFill>
                  <a:srgbClr val="FFB800"/>
                </a:solidFill>
                <a:latin typeface="Calibri" pitchFamily="34" charset="0"/>
                <a:ea typeface="Calibri" pitchFamily="34" charset="-122"/>
                <a:cs typeface="Calibri" pitchFamily="34" charset="-120"/>
              </a:rPr>
              <a:t>›</a:t>
            </a:r>
            <a:endParaRPr lang="en-US" sz="3000" dirty="0"/>
          </a:p>
        </p:txBody>
      </p:sp>
      <p:sp>
        <p:nvSpPr>
          <p:cNvPr id="25" name="Text 18"/>
          <p:cNvSpPr/>
          <p:nvPr/>
        </p:nvSpPr>
        <p:spPr>
          <a:xfrm>
            <a:off x="7944917" y="2331720"/>
            <a:ext cx="1849069" cy="365760"/>
          </a:xfrm>
          <a:prstGeom prst="rect">
            <a:avLst/>
          </a:prstGeom>
          <a:noFill/>
          <a:ln/>
        </p:spPr>
        <p:txBody>
          <a:bodyPr wrap="square" rtlCol="0" anchor="ctr"/>
          <a:lstStyle/>
          <a:p>
            <a:pPr marL="0" indent="0" algn="ctr">
              <a:buNone/>
            </a:pPr>
            <a:r>
              <a:rPr lang="en-US" sz="1300" b="1" dirty="0">
                <a:solidFill>
                  <a:srgbClr val="FF6B35"/>
                </a:solidFill>
                <a:latin typeface="Cambria" pitchFamily="34" charset="0"/>
                <a:ea typeface="Cambria" pitchFamily="34" charset="-122"/>
                <a:cs typeface="Cambria" pitchFamily="34" charset="-120"/>
              </a:rPr>
              <a:t>05</a:t>
            </a:r>
            <a:endParaRPr lang="en-US" sz="1300" dirty="0"/>
          </a:p>
        </p:txBody>
      </p:sp>
      <p:sp>
        <p:nvSpPr>
          <p:cNvPr id="26" name="Shape 19"/>
          <p:cNvSpPr/>
          <p:nvPr/>
        </p:nvSpPr>
        <p:spPr>
          <a:xfrm>
            <a:off x="8389391" y="2834640"/>
            <a:ext cx="960120" cy="960120"/>
          </a:xfrm>
          <a:prstGeom prst="ellipse">
            <a:avLst/>
          </a:prstGeom>
          <a:solidFill>
            <a:srgbClr val="FF6B35"/>
          </a:solidFill>
          <a:ln/>
        </p:spPr>
      </p:sp>
      <p:pic>
        <p:nvPicPr>
          <p:cNvPr id="27" name="Image 5" descr="preencoded.png"/>
          <p:cNvPicPr>
            <a:picLocks noChangeAspect="1"/>
          </p:cNvPicPr>
          <p:nvPr/>
        </p:nvPicPr>
        <p:blipFill>
          <a:blip r:embed="rId8"/>
          <a:stretch>
            <a:fillRect/>
          </a:stretch>
        </p:blipFill>
        <p:spPr>
          <a:xfrm>
            <a:off x="8600618" y="3045866"/>
            <a:ext cx="537667" cy="537667"/>
          </a:xfrm>
          <a:prstGeom prst="rect">
            <a:avLst/>
          </a:prstGeom>
        </p:spPr>
      </p:pic>
      <p:sp>
        <p:nvSpPr>
          <p:cNvPr id="28" name="Text 20"/>
          <p:cNvSpPr/>
          <p:nvPr/>
        </p:nvSpPr>
        <p:spPr>
          <a:xfrm>
            <a:off x="7990637" y="3959352"/>
            <a:ext cx="1757629" cy="640080"/>
          </a:xfrm>
          <a:prstGeom prst="rect">
            <a:avLst/>
          </a:prstGeom>
          <a:noFill/>
          <a:ln/>
        </p:spPr>
        <p:txBody>
          <a:bodyPr wrap="square" rtlCol="0" anchor="t"/>
          <a:lstStyle/>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Dashboard</a:t>
            </a:r>
            <a:endParaRPr lang="en-US" sz="1250" dirty="0"/>
          </a:p>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Development</a:t>
            </a:r>
            <a:endParaRPr lang="en-US" sz="1250" dirty="0"/>
          </a:p>
        </p:txBody>
      </p:sp>
      <p:sp>
        <p:nvSpPr>
          <p:cNvPr id="29" name="Text 21"/>
          <p:cNvSpPr/>
          <p:nvPr/>
        </p:nvSpPr>
        <p:spPr>
          <a:xfrm>
            <a:off x="9537954" y="3022092"/>
            <a:ext cx="457200" cy="548640"/>
          </a:xfrm>
          <a:prstGeom prst="rect">
            <a:avLst/>
          </a:prstGeom>
          <a:noFill/>
          <a:ln/>
        </p:spPr>
        <p:txBody>
          <a:bodyPr wrap="square" rtlCol="0" anchor="ctr"/>
          <a:lstStyle/>
          <a:p>
            <a:pPr marL="0" indent="0" algn="ctr">
              <a:buNone/>
            </a:pPr>
            <a:r>
              <a:rPr lang="en-US" sz="3000" b="1" dirty="0">
                <a:solidFill>
                  <a:srgbClr val="FFB800"/>
                </a:solidFill>
                <a:latin typeface="Calibri" pitchFamily="34" charset="0"/>
                <a:ea typeface="Calibri" pitchFamily="34" charset="-122"/>
                <a:cs typeface="Calibri" pitchFamily="34" charset="-120"/>
              </a:rPr>
              <a:t>›</a:t>
            </a:r>
            <a:endParaRPr lang="en-US" sz="3000" dirty="0"/>
          </a:p>
        </p:txBody>
      </p:sp>
      <p:sp>
        <p:nvSpPr>
          <p:cNvPr id="30" name="Text 22"/>
          <p:cNvSpPr/>
          <p:nvPr/>
        </p:nvSpPr>
        <p:spPr>
          <a:xfrm>
            <a:off x="9793986" y="2331720"/>
            <a:ext cx="1849069" cy="365760"/>
          </a:xfrm>
          <a:prstGeom prst="rect">
            <a:avLst/>
          </a:prstGeom>
          <a:noFill/>
          <a:ln/>
        </p:spPr>
        <p:txBody>
          <a:bodyPr wrap="square" rtlCol="0" anchor="ctr"/>
          <a:lstStyle/>
          <a:p>
            <a:pPr marL="0" indent="0" algn="ctr">
              <a:buNone/>
            </a:pPr>
            <a:r>
              <a:rPr lang="en-US" sz="1300" b="1" dirty="0">
                <a:solidFill>
                  <a:srgbClr val="FF6B35"/>
                </a:solidFill>
                <a:latin typeface="Cambria" pitchFamily="34" charset="0"/>
                <a:ea typeface="Cambria" pitchFamily="34" charset="-122"/>
                <a:cs typeface="Cambria" pitchFamily="34" charset="-120"/>
              </a:rPr>
              <a:t>06</a:t>
            </a:r>
            <a:endParaRPr lang="en-US" sz="1300" dirty="0"/>
          </a:p>
        </p:txBody>
      </p:sp>
      <p:sp>
        <p:nvSpPr>
          <p:cNvPr id="31" name="Shape 23"/>
          <p:cNvSpPr/>
          <p:nvPr/>
        </p:nvSpPr>
        <p:spPr>
          <a:xfrm>
            <a:off x="10238461" y="2834640"/>
            <a:ext cx="960120" cy="960120"/>
          </a:xfrm>
          <a:prstGeom prst="ellipse">
            <a:avLst/>
          </a:prstGeom>
          <a:solidFill>
            <a:srgbClr val="FF6B35"/>
          </a:solidFill>
          <a:ln/>
        </p:spPr>
      </p:sp>
      <p:pic>
        <p:nvPicPr>
          <p:cNvPr id="32" name="Image 6" descr="preencoded.png"/>
          <p:cNvPicPr>
            <a:picLocks noChangeAspect="1"/>
          </p:cNvPicPr>
          <p:nvPr/>
        </p:nvPicPr>
        <p:blipFill>
          <a:blip r:embed="rId9"/>
          <a:stretch>
            <a:fillRect/>
          </a:stretch>
        </p:blipFill>
        <p:spPr>
          <a:xfrm>
            <a:off x="10449687" y="3045866"/>
            <a:ext cx="537667" cy="537667"/>
          </a:xfrm>
          <a:prstGeom prst="rect">
            <a:avLst/>
          </a:prstGeom>
        </p:spPr>
      </p:pic>
      <p:sp>
        <p:nvSpPr>
          <p:cNvPr id="33" name="Text 24"/>
          <p:cNvSpPr/>
          <p:nvPr/>
        </p:nvSpPr>
        <p:spPr>
          <a:xfrm>
            <a:off x="9839706" y="3959352"/>
            <a:ext cx="1757629" cy="640080"/>
          </a:xfrm>
          <a:prstGeom prst="rect">
            <a:avLst/>
          </a:prstGeom>
          <a:noFill/>
          <a:ln/>
        </p:spPr>
        <p:txBody>
          <a:bodyPr wrap="square" rtlCol="0" anchor="t"/>
          <a:lstStyle/>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Insights &amp;</a:t>
            </a:r>
            <a:endParaRPr lang="en-US" sz="1250" dirty="0"/>
          </a:p>
          <a:p>
            <a:pPr marL="0" indent="0" algn="ctr">
              <a:lnSpc>
                <a:spcPct val="105000"/>
              </a:lnSpc>
              <a:buNone/>
            </a:pPr>
            <a:r>
              <a:rPr lang="en-US" sz="1250" b="1" dirty="0">
                <a:solidFill>
                  <a:srgbClr val="1A1A1A"/>
                </a:solidFill>
                <a:latin typeface="Calibri" pitchFamily="34" charset="0"/>
                <a:ea typeface="Calibri" pitchFamily="34" charset="-122"/>
                <a:cs typeface="Calibri" pitchFamily="34" charset="-120"/>
              </a:rPr>
              <a:t>Recommendations</a:t>
            </a:r>
            <a:endParaRPr lang="en-US" sz="1250" dirty="0"/>
          </a:p>
        </p:txBody>
      </p:sp>
      <p:sp>
        <p:nvSpPr>
          <p:cNvPr id="34" name="Text 25"/>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A66"/>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35" name="Text 26"/>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6A6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F6B35"/>
          </a:solidFill>
          <a:ln/>
        </p:spPr>
      </p:sp>
      <p:pic>
        <p:nvPicPr>
          <p:cNvPr id="3"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4" name="Text 1"/>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1A1A1A"/>
                </a:solidFill>
                <a:latin typeface="Cambria" pitchFamily="34" charset="0"/>
                <a:ea typeface="Cambria" pitchFamily="34" charset="-122"/>
                <a:cs typeface="Cambria" pitchFamily="34" charset="-120"/>
              </a:rPr>
              <a:t>Dataset Overview</a:t>
            </a:r>
            <a:endParaRPr lang="en-US" sz="3000" dirty="0"/>
          </a:p>
        </p:txBody>
      </p:sp>
      <p:sp>
        <p:nvSpPr>
          <p:cNvPr id="5" name="Text 2"/>
          <p:cNvSpPr/>
          <p:nvPr/>
        </p:nvSpPr>
        <p:spPr>
          <a:xfrm>
            <a:off x="548640" y="1600200"/>
            <a:ext cx="5486400" cy="1005840"/>
          </a:xfrm>
          <a:prstGeom prst="rect">
            <a:avLst/>
          </a:prstGeom>
          <a:noFill/>
          <a:ln/>
        </p:spPr>
        <p:txBody>
          <a:bodyPr wrap="square" rtlCol="0" anchor="t"/>
          <a:lstStyle/>
          <a:p>
            <a:pPr marL="0" indent="0" algn="l">
              <a:lnSpc>
                <a:spcPct val="130000"/>
              </a:lnSpc>
              <a:buNone/>
            </a:pPr>
            <a:r>
              <a:rPr lang="en-US" sz="1350" dirty="0">
                <a:solidFill>
                  <a:srgbClr val="1A1A1A"/>
                </a:solidFill>
                <a:latin typeface="Calibri" pitchFamily="34" charset="0"/>
                <a:ea typeface="Calibri" pitchFamily="34" charset="-122"/>
                <a:cs typeface="Calibri" pitchFamily="34" charset="-120"/>
              </a:rPr>
              <a:t>The dataset brings together restaurant listings, customer ratings, pricing, and delivery-time records across multiple cities, forming the foundation for every analysis in this dashboard.</a:t>
            </a:r>
            <a:endParaRPr lang="en-US" sz="1350" dirty="0"/>
          </a:p>
        </p:txBody>
      </p:sp>
      <p:sp>
        <p:nvSpPr>
          <p:cNvPr id="6" name="Text 3"/>
          <p:cNvSpPr/>
          <p:nvPr/>
        </p:nvSpPr>
        <p:spPr>
          <a:xfrm>
            <a:off x="548640" y="2788920"/>
            <a:ext cx="2377440" cy="685800"/>
          </a:xfrm>
          <a:prstGeom prst="rect">
            <a:avLst/>
          </a:prstGeom>
          <a:noFill/>
          <a:ln/>
        </p:spPr>
        <p:txBody>
          <a:bodyPr wrap="square" rtlCol="0" anchor="b"/>
          <a:lstStyle/>
          <a:p>
            <a:pPr marL="0" indent="0" algn="l">
              <a:buNone/>
            </a:pPr>
            <a:r>
              <a:rPr lang="en-US" sz="4000" b="1" dirty="0">
                <a:solidFill>
                  <a:srgbClr val="FF6B35"/>
                </a:solidFill>
                <a:latin typeface="Cambria" pitchFamily="34" charset="0"/>
                <a:ea typeface="Cambria" pitchFamily="34" charset="-122"/>
                <a:cs typeface="Cambria" pitchFamily="34" charset="-120"/>
              </a:rPr>
              <a:t>8,680+</a:t>
            </a:r>
            <a:endParaRPr lang="en-US" sz="4000" dirty="0"/>
          </a:p>
        </p:txBody>
      </p:sp>
      <p:sp>
        <p:nvSpPr>
          <p:cNvPr id="7" name="Text 4"/>
          <p:cNvSpPr/>
          <p:nvPr/>
        </p:nvSpPr>
        <p:spPr>
          <a:xfrm>
            <a:off x="548640" y="3447288"/>
            <a:ext cx="2377440" cy="274320"/>
          </a:xfrm>
          <a:prstGeom prst="rect">
            <a:avLst/>
          </a:prstGeom>
          <a:noFill/>
          <a:ln/>
        </p:spPr>
        <p:txBody>
          <a:bodyPr wrap="square" rtlCol="0" anchor="ctr"/>
          <a:lstStyle/>
          <a:p>
            <a:pPr marL="0" indent="0" algn="l">
              <a:buNone/>
            </a:pPr>
            <a:r>
              <a:rPr lang="en-US" sz="1050" b="1" kern="0" spc="120" dirty="0">
                <a:solidFill>
                  <a:srgbClr val="6E6A66"/>
                </a:solidFill>
                <a:latin typeface="Calibri" pitchFamily="34" charset="0"/>
                <a:ea typeface="Calibri" pitchFamily="34" charset="-122"/>
                <a:cs typeface="Calibri" pitchFamily="34" charset="-120"/>
              </a:rPr>
              <a:t>RECORDS</a:t>
            </a:r>
            <a:endParaRPr lang="en-US" sz="1050" dirty="0"/>
          </a:p>
        </p:txBody>
      </p:sp>
      <p:sp>
        <p:nvSpPr>
          <p:cNvPr id="8" name="Text 5"/>
          <p:cNvSpPr/>
          <p:nvPr/>
        </p:nvSpPr>
        <p:spPr>
          <a:xfrm>
            <a:off x="3017520" y="2788920"/>
            <a:ext cx="2377440" cy="685800"/>
          </a:xfrm>
          <a:prstGeom prst="rect">
            <a:avLst/>
          </a:prstGeom>
          <a:noFill/>
          <a:ln/>
        </p:spPr>
        <p:txBody>
          <a:bodyPr wrap="square" rtlCol="0" anchor="b"/>
          <a:lstStyle/>
          <a:p>
            <a:pPr marL="0" indent="0" algn="l">
              <a:buNone/>
            </a:pPr>
            <a:r>
              <a:rPr lang="en-US" sz="4000" b="1" dirty="0">
                <a:solidFill>
                  <a:srgbClr val="FFB800"/>
                </a:solidFill>
                <a:latin typeface="Cambria" pitchFamily="34" charset="0"/>
                <a:ea typeface="Cambria" pitchFamily="34" charset="-122"/>
                <a:cs typeface="Cambria" pitchFamily="34" charset="-120"/>
              </a:rPr>
              <a:t>10</a:t>
            </a:r>
            <a:endParaRPr lang="en-US" sz="4000" dirty="0"/>
          </a:p>
        </p:txBody>
      </p:sp>
      <p:sp>
        <p:nvSpPr>
          <p:cNvPr id="9" name="Text 6"/>
          <p:cNvSpPr/>
          <p:nvPr/>
        </p:nvSpPr>
        <p:spPr>
          <a:xfrm>
            <a:off x="3017520" y="3447288"/>
            <a:ext cx="2377440" cy="274320"/>
          </a:xfrm>
          <a:prstGeom prst="rect">
            <a:avLst/>
          </a:prstGeom>
          <a:noFill/>
          <a:ln/>
        </p:spPr>
        <p:txBody>
          <a:bodyPr wrap="square" rtlCol="0" anchor="ctr"/>
          <a:lstStyle/>
          <a:p>
            <a:pPr marL="0" indent="0" algn="l">
              <a:buNone/>
            </a:pPr>
            <a:r>
              <a:rPr lang="en-US" sz="1050" b="1" kern="0" spc="120" dirty="0">
                <a:solidFill>
                  <a:srgbClr val="6E6A66"/>
                </a:solidFill>
                <a:latin typeface="Calibri" pitchFamily="34" charset="0"/>
                <a:ea typeface="Calibri" pitchFamily="34" charset="-122"/>
                <a:cs typeface="Calibri" pitchFamily="34" charset="-120"/>
              </a:rPr>
              <a:t>FEATURES</a:t>
            </a:r>
            <a:endParaRPr lang="en-US" sz="1050" dirty="0"/>
          </a:p>
        </p:txBody>
      </p:sp>
      <p:sp>
        <p:nvSpPr>
          <p:cNvPr id="10" name="Text 7"/>
          <p:cNvSpPr/>
          <p:nvPr/>
        </p:nvSpPr>
        <p:spPr>
          <a:xfrm>
            <a:off x="548640" y="3977640"/>
            <a:ext cx="5486400" cy="274320"/>
          </a:xfrm>
          <a:prstGeom prst="rect">
            <a:avLst/>
          </a:prstGeom>
          <a:noFill/>
          <a:ln/>
        </p:spPr>
        <p:txBody>
          <a:bodyPr wrap="square" rtlCol="0" anchor="ctr"/>
          <a:lstStyle/>
          <a:p>
            <a:pPr marL="0" indent="0" algn="l">
              <a:buNone/>
            </a:pPr>
            <a:r>
              <a:rPr lang="en-US" sz="1100" b="1" kern="0" spc="120" dirty="0">
                <a:solidFill>
                  <a:srgbClr val="6E6A66"/>
                </a:solidFill>
                <a:latin typeface="Calibri" pitchFamily="34" charset="0"/>
                <a:ea typeface="Calibri" pitchFamily="34" charset="-122"/>
                <a:cs typeface="Calibri" pitchFamily="34" charset="-120"/>
              </a:rPr>
              <a:t>IMPORTANT COLUMNS</a:t>
            </a:r>
            <a:endParaRPr lang="en-US" sz="1100" dirty="0"/>
          </a:p>
        </p:txBody>
      </p:sp>
      <p:sp>
        <p:nvSpPr>
          <p:cNvPr id="11" name="Shape 8"/>
          <p:cNvSpPr/>
          <p:nvPr/>
        </p:nvSpPr>
        <p:spPr>
          <a:xfrm>
            <a:off x="548640" y="4370832"/>
            <a:ext cx="82296" cy="82296"/>
          </a:xfrm>
          <a:prstGeom prst="ellipse">
            <a:avLst/>
          </a:prstGeom>
          <a:solidFill>
            <a:srgbClr val="FF6B35"/>
          </a:solidFill>
          <a:ln/>
        </p:spPr>
      </p:sp>
      <p:sp>
        <p:nvSpPr>
          <p:cNvPr id="12" name="Text 9"/>
          <p:cNvSpPr/>
          <p:nvPr/>
        </p:nvSpPr>
        <p:spPr>
          <a:xfrm>
            <a:off x="749808" y="4242816"/>
            <a:ext cx="2468880" cy="320040"/>
          </a:xfrm>
          <a:prstGeom prst="rect">
            <a:avLst/>
          </a:prstGeom>
          <a:noFill/>
          <a:ln/>
        </p:spPr>
        <p:txBody>
          <a:bodyPr wrap="square" rtlCol="0" anchor="ctr"/>
          <a:lstStyle/>
          <a:p>
            <a:pPr marL="0" indent="0" algn="l">
              <a:buNone/>
            </a:pPr>
            <a:r>
              <a:rPr lang="en-US" sz="1200" dirty="0">
                <a:solidFill>
                  <a:srgbClr val="1A1A1A"/>
                </a:solidFill>
                <a:latin typeface="Calibri" pitchFamily="34" charset="0"/>
                <a:ea typeface="Calibri" pitchFamily="34" charset="-122"/>
                <a:cs typeface="Calibri" pitchFamily="34" charset="-120"/>
              </a:rPr>
              <a:t>Restaurant Name</a:t>
            </a:r>
            <a:endParaRPr lang="en-US" sz="1200" dirty="0"/>
          </a:p>
        </p:txBody>
      </p:sp>
      <p:sp>
        <p:nvSpPr>
          <p:cNvPr id="13" name="Shape 10"/>
          <p:cNvSpPr/>
          <p:nvPr/>
        </p:nvSpPr>
        <p:spPr>
          <a:xfrm>
            <a:off x="3291840" y="4370832"/>
            <a:ext cx="82296" cy="82296"/>
          </a:xfrm>
          <a:prstGeom prst="ellipse">
            <a:avLst/>
          </a:prstGeom>
          <a:solidFill>
            <a:srgbClr val="FF6B35"/>
          </a:solidFill>
          <a:ln/>
        </p:spPr>
      </p:sp>
      <p:sp>
        <p:nvSpPr>
          <p:cNvPr id="14" name="Text 11"/>
          <p:cNvSpPr/>
          <p:nvPr/>
        </p:nvSpPr>
        <p:spPr>
          <a:xfrm>
            <a:off x="3493008" y="4242816"/>
            <a:ext cx="2468880" cy="320040"/>
          </a:xfrm>
          <a:prstGeom prst="rect">
            <a:avLst/>
          </a:prstGeom>
          <a:noFill/>
          <a:ln/>
        </p:spPr>
        <p:txBody>
          <a:bodyPr wrap="square" rtlCol="0" anchor="ctr"/>
          <a:lstStyle/>
          <a:p>
            <a:pPr marL="0" indent="0" algn="l">
              <a:buNone/>
            </a:pPr>
            <a:r>
              <a:rPr lang="en-US" sz="1200" dirty="0">
                <a:solidFill>
                  <a:srgbClr val="1A1A1A"/>
                </a:solidFill>
                <a:latin typeface="Calibri" pitchFamily="34" charset="0"/>
                <a:ea typeface="Calibri" pitchFamily="34" charset="-122"/>
                <a:cs typeface="Calibri" pitchFamily="34" charset="-120"/>
              </a:rPr>
              <a:t>City &amp; Area</a:t>
            </a:r>
            <a:endParaRPr lang="en-US" sz="1200" dirty="0"/>
          </a:p>
        </p:txBody>
      </p:sp>
      <p:sp>
        <p:nvSpPr>
          <p:cNvPr id="15" name="Shape 12"/>
          <p:cNvSpPr/>
          <p:nvPr/>
        </p:nvSpPr>
        <p:spPr>
          <a:xfrm>
            <a:off x="548640" y="4736592"/>
            <a:ext cx="82296" cy="82296"/>
          </a:xfrm>
          <a:prstGeom prst="ellipse">
            <a:avLst/>
          </a:prstGeom>
          <a:solidFill>
            <a:srgbClr val="FF6B35"/>
          </a:solidFill>
          <a:ln/>
        </p:spPr>
      </p:sp>
      <p:sp>
        <p:nvSpPr>
          <p:cNvPr id="16" name="Text 13"/>
          <p:cNvSpPr/>
          <p:nvPr/>
        </p:nvSpPr>
        <p:spPr>
          <a:xfrm>
            <a:off x="749808" y="4608576"/>
            <a:ext cx="2468880" cy="320040"/>
          </a:xfrm>
          <a:prstGeom prst="rect">
            <a:avLst/>
          </a:prstGeom>
          <a:noFill/>
          <a:ln/>
        </p:spPr>
        <p:txBody>
          <a:bodyPr wrap="square" rtlCol="0" anchor="ctr"/>
          <a:lstStyle/>
          <a:p>
            <a:pPr marL="0" indent="0" algn="l">
              <a:buNone/>
            </a:pPr>
            <a:r>
              <a:rPr lang="en-US" sz="1200" dirty="0">
                <a:solidFill>
                  <a:srgbClr val="1A1A1A"/>
                </a:solidFill>
                <a:latin typeface="Calibri" pitchFamily="34" charset="0"/>
                <a:ea typeface="Calibri" pitchFamily="34" charset="-122"/>
                <a:cs typeface="Calibri" pitchFamily="34" charset="-120"/>
              </a:rPr>
              <a:t>Cuisine / Food Type</a:t>
            </a:r>
            <a:endParaRPr lang="en-US" sz="1200" dirty="0"/>
          </a:p>
        </p:txBody>
      </p:sp>
      <p:sp>
        <p:nvSpPr>
          <p:cNvPr id="17" name="Shape 14"/>
          <p:cNvSpPr/>
          <p:nvPr/>
        </p:nvSpPr>
        <p:spPr>
          <a:xfrm>
            <a:off x="3291840" y="4736592"/>
            <a:ext cx="82296" cy="82296"/>
          </a:xfrm>
          <a:prstGeom prst="ellipse">
            <a:avLst/>
          </a:prstGeom>
          <a:solidFill>
            <a:srgbClr val="FF6B35"/>
          </a:solidFill>
          <a:ln/>
        </p:spPr>
      </p:sp>
      <p:sp>
        <p:nvSpPr>
          <p:cNvPr id="18" name="Text 15"/>
          <p:cNvSpPr/>
          <p:nvPr/>
        </p:nvSpPr>
        <p:spPr>
          <a:xfrm>
            <a:off x="3493008" y="4608576"/>
            <a:ext cx="2468880" cy="320040"/>
          </a:xfrm>
          <a:prstGeom prst="rect">
            <a:avLst/>
          </a:prstGeom>
          <a:noFill/>
          <a:ln/>
        </p:spPr>
        <p:txBody>
          <a:bodyPr wrap="square" rtlCol="0" anchor="ctr"/>
          <a:lstStyle/>
          <a:p>
            <a:pPr marL="0" indent="0" algn="l">
              <a:buNone/>
            </a:pPr>
            <a:r>
              <a:rPr lang="en-US" sz="1200" dirty="0">
                <a:solidFill>
                  <a:srgbClr val="1A1A1A"/>
                </a:solidFill>
                <a:latin typeface="Calibri" pitchFamily="34" charset="0"/>
                <a:ea typeface="Calibri" pitchFamily="34" charset="-122"/>
                <a:cs typeface="Calibri" pitchFamily="34" charset="-120"/>
              </a:rPr>
              <a:t>Average Rating</a:t>
            </a:r>
            <a:endParaRPr lang="en-US" sz="1200" dirty="0"/>
          </a:p>
        </p:txBody>
      </p:sp>
      <p:sp>
        <p:nvSpPr>
          <p:cNvPr id="19" name="Shape 16"/>
          <p:cNvSpPr/>
          <p:nvPr/>
        </p:nvSpPr>
        <p:spPr>
          <a:xfrm>
            <a:off x="548640" y="5102352"/>
            <a:ext cx="82296" cy="82296"/>
          </a:xfrm>
          <a:prstGeom prst="ellipse">
            <a:avLst/>
          </a:prstGeom>
          <a:solidFill>
            <a:srgbClr val="FF6B35"/>
          </a:solidFill>
          <a:ln/>
        </p:spPr>
      </p:sp>
      <p:sp>
        <p:nvSpPr>
          <p:cNvPr id="20" name="Text 17"/>
          <p:cNvSpPr/>
          <p:nvPr/>
        </p:nvSpPr>
        <p:spPr>
          <a:xfrm>
            <a:off x="749808" y="4974336"/>
            <a:ext cx="2468880" cy="320040"/>
          </a:xfrm>
          <a:prstGeom prst="rect">
            <a:avLst/>
          </a:prstGeom>
          <a:noFill/>
          <a:ln/>
        </p:spPr>
        <p:txBody>
          <a:bodyPr wrap="square" rtlCol="0" anchor="ctr"/>
          <a:lstStyle/>
          <a:p>
            <a:pPr marL="0" indent="0" algn="l">
              <a:buNone/>
            </a:pPr>
            <a:r>
              <a:rPr lang="en-US" sz="1200" dirty="0">
                <a:solidFill>
                  <a:srgbClr val="1A1A1A"/>
                </a:solidFill>
                <a:latin typeface="Calibri" pitchFamily="34" charset="0"/>
                <a:ea typeface="Calibri" pitchFamily="34" charset="-122"/>
                <a:cs typeface="Calibri" pitchFamily="34" charset="-120"/>
              </a:rPr>
              <a:t>Total Ratings</a:t>
            </a:r>
            <a:endParaRPr lang="en-US" sz="1200" dirty="0"/>
          </a:p>
        </p:txBody>
      </p:sp>
      <p:sp>
        <p:nvSpPr>
          <p:cNvPr id="21" name="Shape 18"/>
          <p:cNvSpPr/>
          <p:nvPr/>
        </p:nvSpPr>
        <p:spPr>
          <a:xfrm>
            <a:off x="3291840" y="5102352"/>
            <a:ext cx="82296" cy="82296"/>
          </a:xfrm>
          <a:prstGeom prst="ellipse">
            <a:avLst/>
          </a:prstGeom>
          <a:solidFill>
            <a:srgbClr val="FF6B35"/>
          </a:solidFill>
          <a:ln/>
        </p:spPr>
      </p:sp>
      <p:sp>
        <p:nvSpPr>
          <p:cNvPr id="22" name="Text 19"/>
          <p:cNvSpPr/>
          <p:nvPr/>
        </p:nvSpPr>
        <p:spPr>
          <a:xfrm>
            <a:off x="3493008" y="4974336"/>
            <a:ext cx="2468880" cy="320040"/>
          </a:xfrm>
          <a:prstGeom prst="rect">
            <a:avLst/>
          </a:prstGeom>
          <a:noFill/>
          <a:ln/>
        </p:spPr>
        <p:txBody>
          <a:bodyPr wrap="square" rtlCol="0" anchor="ctr"/>
          <a:lstStyle/>
          <a:p>
            <a:pPr marL="0" indent="0" algn="l">
              <a:buNone/>
            </a:pPr>
            <a:r>
              <a:rPr lang="en-US" sz="1200" dirty="0">
                <a:solidFill>
                  <a:srgbClr val="1A1A1A"/>
                </a:solidFill>
                <a:latin typeface="Calibri" pitchFamily="34" charset="0"/>
                <a:ea typeface="Calibri" pitchFamily="34" charset="-122"/>
                <a:cs typeface="Calibri" pitchFamily="34" charset="-120"/>
              </a:rPr>
              <a:t>Price</a:t>
            </a:r>
            <a:endParaRPr lang="en-US" sz="1200" dirty="0"/>
          </a:p>
        </p:txBody>
      </p:sp>
      <p:sp>
        <p:nvSpPr>
          <p:cNvPr id="23" name="Shape 20"/>
          <p:cNvSpPr/>
          <p:nvPr/>
        </p:nvSpPr>
        <p:spPr>
          <a:xfrm>
            <a:off x="548640" y="5468112"/>
            <a:ext cx="82296" cy="82296"/>
          </a:xfrm>
          <a:prstGeom prst="ellipse">
            <a:avLst/>
          </a:prstGeom>
          <a:solidFill>
            <a:srgbClr val="FF6B35"/>
          </a:solidFill>
          <a:ln/>
        </p:spPr>
      </p:sp>
      <p:sp>
        <p:nvSpPr>
          <p:cNvPr id="24" name="Text 21"/>
          <p:cNvSpPr/>
          <p:nvPr/>
        </p:nvSpPr>
        <p:spPr>
          <a:xfrm>
            <a:off x="749808" y="5340096"/>
            <a:ext cx="2468880" cy="320040"/>
          </a:xfrm>
          <a:prstGeom prst="rect">
            <a:avLst/>
          </a:prstGeom>
          <a:noFill/>
          <a:ln/>
        </p:spPr>
        <p:txBody>
          <a:bodyPr wrap="square" rtlCol="0" anchor="ctr"/>
          <a:lstStyle/>
          <a:p>
            <a:pPr marL="0" indent="0" algn="l">
              <a:buNone/>
            </a:pPr>
            <a:r>
              <a:rPr lang="en-US" sz="1200" dirty="0">
                <a:solidFill>
                  <a:srgbClr val="1A1A1A"/>
                </a:solidFill>
                <a:latin typeface="Calibri" pitchFamily="34" charset="0"/>
                <a:ea typeface="Calibri" pitchFamily="34" charset="-122"/>
                <a:cs typeface="Calibri" pitchFamily="34" charset="-120"/>
              </a:rPr>
              <a:t>Delivery Time</a:t>
            </a:r>
            <a:endParaRPr lang="en-US" sz="1200" dirty="0"/>
          </a:p>
        </p:txBody>
      </p:sp>
      <p:sp>
        <p:nvSpPr>
          <p:cNvPr id="25" name="Shape 22"/>
          <p:cNvSpPr/>
          <p:nvPr/>
        </p:nvSpPr>
        <p:spPr>
          <a:xfrm>
            <a:off x="6446520" y="1600200"/>
            <a:ext cx="5166360" cy="4754880"/>
          </a:xfrm>
          <a:prstGeom prst="roundRect">
            <a:avLst>
              <a:gd name="adj" fmla="val 1538"/>
            </a:avLst>
          </a:prstGeom>
          <a:solidFill>
            <a:srgbClr val="F4F1EC"/>
          </a:solidFill>
          <a:ln w="19050">
            <a:solidFill>
              <a:srgbClr val="FF6B35"/>
            </a:solidFill>
            <a:prstDash val="dash"/>
          </a:ln>
        </p:spPr>
      </p:sp>
      <p:sp>
        <p:nvSpPr>
          <p:cNvPr id="26" name="Shape 23"/>
          <p:cNvSpPr/>
          <p:nvPr/>
        </p:nvSpPr>
        <p:spPr>
          <a:xfrm>
            <a:off x="8709660" y="3383280"/>
            <a:ext cx="640080" cy="640080"/>
          </a:xfrm>
          <a:prstGeom prst="ellipse">
            <a:avLst/>
          </a:prstGeom>
          <a:solidFill>
            <a:srgbClr val="FF6B35"/>
          </a:solidFill>
          <a:ln/>
        </p:spPr>
      </p:sp>
      <p:pic>
        <p:nvPicPr>
          <p:cNvPr id="27" name="Image 1" descr="preencoded.png"/>
          <p:cNvPicPr>
            <a:picLocks noChangeAspect="1"/>
          </p:cNvPicPr>
          <p:nvPr/>
        </p:nvPicPr>
        <p:blipFill>
          <a:blip r:embed="rId4"/>
          <a:stretch>
            <a:fillRect/>
          </a:stretch>
        </p:blipFill>
        <p:spPr>
          <a:xfrm>
            <a:off x="8850478" y="3524098"/>
            <a:ext cx="358445" cy="358445"/>
          </a:xfrm>
          <a:prstGeom prst="rect">
            <a:avLst/>
          </a:prstGeom>
        </p:spPr>
      </p:pic>
      <p:sp>
        <p:nvSpPr>
          <p:cNvPr id="28" name="Text 24"/>
          <p:cNvSpPr/>
          <p:nvPr/>
        </p:nvSpPr>
        <p:spPr>
          <a:xfrm>
            <a:off x="6720840" y="4114800"/>
            <a:ext cx="4617720" cy="365760"/>
          </a:xfrm>
          <a:prstGeom prst="rect">
            <a:avLst/>
          </a:prstGeom>
          <a:noFill/>
          <a:ln/>
        </p:spPr>
        <p:txBody>
          <a:bodyPr wrap="square" rtlCol="0" anchor="t"/>
          <a:lstStyle/>
          <a:p>
            <a:pPr marL="0" indent="0" algn="ctr">
              <a:buNone/>
            </a:pPr>
            <a:r>
              <a:rPr lang="en-US" sz="1300" b="1" i="1" dirty="0">
                <a:solidFill>
                  <a:srgbClr val="6E6A66"/>
                </a:solidFill>
                <a:latin typeface="Calibri" pitchFamily="34" charset="0"/>
                <a:ea typeface="Calibri" pitchFamily="34" charset="-122"/>
                <a:cs typeface="Calibri" pitchFamily="34" charset="-120"/>
              </a:rPr>
              <a:t>[Insert Dataset Screenshot]</a:t>
            </a:r>
            <a:endParaRPr lang="en-US" sz="1300" dirty="0"/>
          </a:p>
        </p:txBody>
      </p:sp>
      <p:sp>
        <p:nvSpPr>
          <p:cNvPr id="29" name="Text 25"/>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A66"/>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30" name="Text 26"/>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6A66"/>
                </a:solidFill>
                <a:latin typeface="Calibri" pitchFamily="34" charset="0"/>
                <a:ea typeface="Calibri" pitchFamily="34" charset="-122"/>
                <a:cs typeface="Calibri" pitchFamily="34" charset="-120"/>
              </a:rPr>
              <a:t>9</a:t>
            </a:r>
            <a:endParaRPr lang="en-US" sz="900" dirty="0"/>
          </a:p>
        </p:txBody>
      </p:sp>
      <p:pic>
        <p:nvPicPr>
          <p:cNvPr id="31" name="Picture 30" descr="dataset_ss.png"/>
          <p:cNvPicPr>
            <a:picLocks noChangeAspect="1"/>
          </p:cNvPicPr>
          <p:nvPr/>
        </p:nvPicPr>
        <p:blipFill>
          <a:blip r:embed="rId5"/>
          <a:stretch>
            <a:fillRect/>
          </a:stretch>
        </p:blipFill>
        <p:spPr>
          <a:xfrm>
            <a:off x="6446521" y="1600201"/>
            <a:ext cx="5166360" cy="48737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F6B35"/>
          </a:solidFill>
          <a:ln/>
        </p:spPr>
      </p:sp>
      <p:pic>
        <p:nvPicPr>
          <p:cNvPr id="3"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4" name="Text 1"/>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1A1A1A"/>
                </a:solidFill>
                <a:latin typeface="Cambria" pitchFamily="34" charset="0"/>
                <a:ea typeface="Cambria" pitchFamily="34" charset="-122"/>
                <a:cs typeface="Cambria" pitchFamily="34" charset="-120"/>
              </a:rPr>
              <a:t>Dashboard Overview</a:t>
            </a:r>
            <a:endParaRPr lang="en-US" sz="3000" dirty="0"/>
          </a:p>
        </p:txBody>
      </p:sp>
      <p:sp>
        <p:nvSpPr>
          <p:cNvPr id="5" name="Text 2"/>
          <p:cNvSpPr/>
          <p:nvPr/>
        </p:nvSpPr>
        <p:spPr>
          <a:xfrm>
            <a:off x="548640" y="1600200"/>
            <a:ext cx="5486400" cy="274320"/>
          </a:xfrm>
          <a:prstGeom prst="rect">
            <a:avLst/>
          </a:prstGeom>
          <a:noFill/>
          <a:ln/>
        </p:spPr>
        <p:txBody>
          <a:bodyPr wrap="square" rtlCol="0" anchor="ctr"/>
          <a:lstStyle/>
          <a:p>
            <a:pPr marL="0" indent="0" algn="l">
              <a:buNone/>
            </a:pPr>
            <a:r>
              <a:rPr lang="en-US" sz="1100" b="1" kern="0" spc="120" dirty="0">
                <a:solidFill>
                  <a:srgbClr val="6E6A66"/>
                </a:solidFill>
                <a:latin typeface="Calibri" pitchFamily="34" charset="0"/>
                <a:ea typeface="Calibri" pitchFamily="34" charset="-122"/>
                <a:cs typeface="Calibri" pitchFamily="34" charset="-120"/>
              </a:rPr>
              <a:t>DASHBOARD PAGES</a:t>
            </a:r>
            <a:endParaRPr lang="en-US" sz="1100" dirty="0"/>
          </a:p>
        </p:txBody>
      </p:sp>
      <p:sp>
        <p:nvSpPr>
          <p:cNvPr id="6" name="Shape 3"/>
          <p:cNvSpPr/>
          <p:nvPr/>
        </p:nvSpPr>
        <p:spPr>
          <a:xfrm>
            <a:off x="548640" y="1965960"/>
            <a:ext cx="438912" cy="438912"/>
          </a:xfrm>
          <a:prstGeom prst="ellipse">
            <a:avLst/>
          </a:prstGeom>
          <a:solidFill>
            <a:srgbClr val="FF6B35"/>
          </a:solidFill>
          <a:ln/>
        </p:spPr>
      </p:sp>
      <p:pic>
        <p:nvPicPr>
          <p:cNvPr id="7" name="Image 1" descr="preencoded.png"/>
          <p:cNvPicPr>
            <a:picLocks noChangeAspect="1"/>
          </p:cNvPicPr>
          <p:nvPr/>
        </p:nvPicPr>
        <p:blipFill>
          <a:blip r:embed="rId3"/>
          <a:stretch>
            <a:fillRect/>
          </a:stretch>
        </p:blipFill>
        <p:spPr>
          <a:xfrm>
            <a:off x="645201" y="2062521"/>
            <a:ext cx="245791" cy="245791"/>
          </a:xfrm>
          <a:prstGeom prst="rect">
            <a:avLst/>
          </a:prstGeom>
        </p:spPr>
      </p:pic>
      <p:sp>
        <p:nvSpPr>
          <p:cNvPr id="8" name="Text 4"/>
          <p:cNvSpPr/>
          <p:nvPr/>
        </p:nvSpPr>
        <p:spPr>
          <a:xfrm>
            <a:off x="1188720" y="1938528"/>
            <a:ext cx="4846320"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Home</a:t>
            </a:r>
            <a:endParaRPr lang="en-US" sz="1450" dirty="0"/>
          </a:p>
        </p:txBody>
      </p:sp>
      <p:sp>
        <p:nvSpPr>
          <p:cNvPr id="9" name="Text 5"/>
          <p:cNvSpPr/>
          <p:nvPr/>
        </p:nvSpPr>
        <p:spPr>
          <a:xfrm>
            <a:off x="1188720" y="2212848"/>
            <a:ext cx="4846320"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Live snapshot of market-wide KPIs</a:t>
            </a:r>
            <a:endParaRPr lang="en-US" sz="1150" dirty="0"/>
          </a:p>
        </p:txBody>
      </p:sp>
      <p:sp>
        <p:nvSpPr>
          <p:cNvPr id="10" name="Shape 6"/>
          <p:cNvSpPr/>
          <p:nvPr/>
        </p:nvSpPr>
        <p:spPr>
          <a:xfrm>
            <a:off x="548640" y="3017520"/>
            <a:ext cx="438912" cy="438912"/>
          </a:xfrm>
          <a:prstGeom prst="ellipse">
            <a:avLst/>
          </a:prstGeom>
          <a:solidFill>
            <a:srgbClr val="FF6B35"/>
          </a:solidFill>
          <a:ln/>
        </p:spPr>
      </p:sp>
      <p:pic>
        <p:nvPicPr>
          <p:cNvPr id="11" name="Image 2" descr="preencoded.png"/>
          <p:cNvPicPr>
            <a:picLocks noChangeAspect="1"/>
          </p:cNvPicPr>
          <p:nvPr/>
        </p:nvPicPr>
        <p:blipFill>
          <a:blip r:embed="rId4"/>
          <a:stretch>
            <a:fillRect/>
          </a:stretch>
        </p:blipFill>
        <p:spPr>
          <a:xfrm>
            <a:off x="645201" y="3114081"/>
            <a:ext cx="245791" cy="245791"/>
          </a:xfrm>
          <a:prstGeom prst="rect">
            <a:avLst/>
          </a:prstGeom>
        </p:spPr>
      </p:pic>
      <p:sp>
        <p:nvSpPr>
          <p:cNvPr id="12" name="Text 7"/>
          <p:cNvSpPr/>
          <p:nvPr/>
        </p:nvSpPr>
        <p:spPr>
          <a:xfrm>
            <a:off x="1188720" y="2990088"/>
            <a:ext cx="4846320"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Data Explorer</a:t>
            </a:r>
            <a:endParaRPr lang="en-US" sz="1450" dirty="0"/>
          </a:p>
        </p:txBody>
      </p:sp>
      <p:sp>
        <p:nvSpPr>
          <p:cNvPr id="13" name="Text 8"/>
          <p:cNvSpPr/>
          <p:nvPr/>
        </p:nvSpPr>
        <p:spPr>
          <a:xfrm>
            <a:off x="1188720" y="3264408"/>
            <a:ext cx="4846320"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Search, filter, and inspect records</a:t>
            </a:r>
            <a:endParaRPr lang="en-US" sz="1150" dirty="0"/>
          </a:p>
        </p:txBody>
      </p:sp>
      <p:sp>
        <p:nvSpPr>
          <p:cNvPr id="14" name="Shape 9"/>
          <p:cNvSpPr/>
          <p:nvPr/>
        </p:nvSpPr>
        <p:spPr>
          <a:xfrm>
            <a:off x="548640" y="4069080"/>
            <a:ext cx="438912" cy="438912"/>
          </a:xfrm>
          <a:prstGeom prst="ellipse">
            <a:avLst/>
          </a:prstGeom>
          <a:solidFill>
            <a:srgbClr val="FF6B35"/>
          </a:solidFill>
          <a:ln/>
        </p:spPr>
      </p:sp>
      <p:pic>
        <p:nvPicPr>
          <p:cNvPr id="15" name="Image 3" descr="preencoded.png"/>
          <p:cNvPicPr>
            <a:picLocks noChangeAspect="1"/>
          </p:cNvPicPr>
          <p:nvPr/>
        </p:nvPicPr>
        <p:blipFill>
          <a:blip r:embed="rId5"/>
          <a:stretch>
            <a:fillRect/>
          </a:stretch>
        </p:blipFill>
        <p:spPr>
          <a:xfrm>
            <a:off x="645201" y="4165641"/>
            <a:ext cx="245791" cy="245791"/>
          </a:xfrm>
          <a:prstGeom prst="rect">
            <a:avLst/>
          </a:prstGeom>
        </p:spPr>
      </p:pic>
      <p:sp>
        <p:nvSpPr>
          <p:cNvPr id="16" name="Text 10"/>
          <p:cNvSpPr/>
          <p:nvPr/>
        </p:nvSpPr>
        <p:spPr>
          <a:xfrm>
            <a:off x="1188720" y="4041648"/>
            <a:ext cx="4846320"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Analysis Center</a:t>
            </a:r>
            <a:endParaRPr lang="en-US" sz="1450" dirty="0"/>
          </a:p>
        </p:txBody>
      </p:sp>
      <p:sp>
        <p:nvSpPr>
          <p:cNvPr id="17" name="Text 11"/>
          <p:cNvSpPr/>
          <p:nvPr/>
        </p:nvSpPr>
        <p:spPr>
          <a:xfrm>
            <a:off x="1188720" y="4315968"/>
            <a:ext cx="4846320"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Charts across ratings, delivery &amp; pricing</a:t>
            </a:r>
            <a:endParaRPr lang="en-US" sz="1150" dirty="0"/>
          </a:p>
        </p:txBody>
      </p:sp>
      <p:sp>
        <p:nvSpPr>
          <p:cNvPr id="18" name="Shape 12"/>
          <p:cNvSpPr/>
          <p:nvPr/>
        </p:nvSpPr>
        <p:spPr>
          <a:xfrm>
            <a:off x="548640" y="5120640"/>
            <a:ext cx="438912" cy="438912"/>
          </a:xfrm>
          <a:prstGeom prst="ellipse">
            <a:avLst/>
          </a:prstGeom>
          <a:solidFill>
            <a:srgbClr val="FF6B35"/>
          </a:solidFill>
          <a:ln/>
        </p:spPr>
      </p:sp>
      <p:pic>
        <p:nvPicPr>
          <p:cNvPr id="19" name="Image 4" descr="preencoded.png"/>
          <p:cNvPicPr>
            <a:picLocks noChangeAspect="1"/>
          </p:cNvPicPr>
          <p:nvPr/>
        </p:nvPicPr>
        <p:blipFill>
          <a:blip r:embed="rId6"/>
          <a:stretch>
            <a:fillRect/>
          </a:stretch>
        </p:blipFill>
        <p:spPr>
          <a:xfrm>
            <a:off x="645201" y="5217201"/>
            <a:ext cx="245791" cy="245791"/>
          </a:xfrm>
          <a:prstGeom prst="rect">
            <a:avLst/>
          </a:prstGeom>
        </p:spPr>
      </p:pic>
      <p:sp>
        <p:nvSpPr>
          <p:cNvPr id="20" name="Text 13"/>
          <p:cNvSpPr/>
          <p:nvPr/>
        </p:nvSpPr>
        <p:spPr>
          <a:xfrm>
            <a:off x="1188720" y="5093208"/>
            <a:ext cx="4846320"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Insights &amp; Recommendations</a:t>
            </a:r>
            <a:endParaRPr lang="en-US" sz="1450" dirty="0"/>
          </a:p>
        </p:txBody>
      </p:sp>
      <p:sp>
        <p:nvSpPr>
          <p:cNvPr id="21" name="Text 14"/>
          <p:cNvSpPr/>
          <p:nvPr/>
        </p:nvSpPr>
        <p:spPr>
          <a:xfrm>
            <a:off x="1188720" y="5367528"/>
            <a:ext cx="4846320"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Business takeaways and next steps</a:t>
            </a:r>
            <a:endParaRPr lang="en-US" sz="1150" dirty="0"/>
          </a:p>
        </p:txBody>
      </p:sp>
      <p:sp>
        <p:nvSpPr>
          <p:cNvPr id="22" name="Shape 15"/>
          <p:cNvSpPr/>
          <p:nvPr/>
        </p:nvSpPr>
        <p:spPr>
          <a:xfrm>
            <a:off x="6446520" y="1600200"/>
            <a:ext cx="5166360" cy="4754880"/>
          </a:xfrm>
          <a:prstGeom prst="roundRect">
            <a:avLst>
              <a:gd name="adj" fmla="val 1538"/>
            </a:avLst>
          </a:prstGeom>
          <a:solidFill>
            <a:srgbClr val="F4F1EC"/>
          </a:solidFill>
          <a:ln w="19050">
            <a:solidFill>
              <a:srgbClr val="FF6B35"/>
            </a:solidFill>
            <a:prstDash val="dash"/>
          </a:ln>
        </p:spPr>
      </p:sp>
      <p:sp>
        <p:nvSpPr>
          <p:cNvPr id="23" name="Shape 16"/>
          <p:cNvSpPr/>
          <p:nvPr/>
        </p:nvSpPr>
        <p:spPr>
          <a:xfrm>
            <a:off x="8709660" y="3383280"/>
            <a:ext cx="640080" cy="640080"/>
          </a:xfrm>
          <a:prstGeom prst="ellipse">
            <a:avLst/>
          </a:prstGeom>
          <a:solidFill>
            <a:srgbClr val="FF6B35"/>
          </a:solidFill>
          <a:ln/>
        </p:spPr>
      </p:sp>
      <p:pic>
        <p:nvPicPr>
          <p:cNvPr id="24" name="Image 5" descr="preencoded.png"/>
          <p:cNvPicPr>
            <a:picLocks noChangeAspect="1"/>
          </p:cNvPicPr>
          <p:nvPr/>
        </p:nvPicPr>
        <p:blipFill>
          <a:blip r:embed="rId7"/>
          <a:stretch>
            <a:fillRect/>
          </a:stretch>
        </p:blipFill>
        <p:spPr>
          <a:xfrm>
            <a:off x="8850478" y="3524098"/>
            <a:ext cx="358445" cy="358445"/>
          </a:xfrm>
          <a:prstGeom prst="rect">
            <a:avLst/>
          </a:prstGeom>
        </p:spPr>
      </p:pic>
      <p:sp>
        <p:nvSpPr>
          <p:cNvPr id="25" name="Text 17"/>
          <p:cNvSpPr/>
          <p:nvPr/>
        </p:nvSpPr>
        <p:spPr>
          <a:xfrm>
            <a:off x="6720840" y="4114800"/>
            <a:ext cx="4617720" cy="365760"/>
          </a:xfrm>
          <a:prstGeom prst="rect">
            <a:avLst/>
          </a:prstGeom>
          <a:noFill/>
          <a:ln/>
        </p:spPr>
        <p:txBody>
          <a:bodyPr wrap="square" rtlCol="0" anchor="t"/>
          <a:lstStyle/>
          <a:p>
            <a:pPr marL="0" indent="0" algn="ctr">
              <a:buNone/>
            </a:pPr>
            <a:r>
              <a:rPr lang="en-US" sz="1300" b="1" i="1" dirty="0">
                <a:solidFill>
                  <a:srgbClr val="6E6A66"/>
                </a:solidFill>
                <a:latin typeface="Calibri" pitchFamily="34" charset="0"/>
                <a:ea typeface="Calibri" pitchFamily="34" charset="-122"/>
                <a:cs typeface="Calibri" pitchFamily="34" charset="-120"/>
              </a:rPr>
              <a:t>[Insert Dashboard Screenshot]</a:t>
            </a:r>
            <a:endParaRPr lang="en-US" sz="1300" dirty="0"/>
          </a:p>
        </p:txBody>
      </p:sp>
      <p:sp>
        <p:nvSpPr>
          <p:cNvPr id="26" name="Text 18"/>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A66"/>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27" name="Text 19"/>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6A66"/>
                </a:solidFill>
                <a:latin typeface="Calibri" pitchFamily="34" charset="0"/>
                <a:ea typeface="Calibri" pitchFamily="34" charset="-122"/>
                <a:cs typeface="Calibri" pitchFamily="34" charset="-120"/>
              </a:rPr>
              <a:t>10</a:t>
            </a:r>
            <a:endParaRPr lang="en-US" sz="900" dirty="0"/>
          </a:p>
        </p:txBody>
      </p:sp>
      <p:pic>
        <p:nvPicPr>
          <p:cNvPr id="28" name="Picture 27" descr="home_page2.png"/>
          <p:cNvPicPr>
            <a:picLocks noChangeAspect="1"/>
          </p:cNvPicPr>
          <p:nvPr/>
        </p:nvPicPr>
        <p:blipFill>
          <a:blip r:embed="rId8"/>
          <a:stretch>
            <a:fillRect/>
          </a:stretch>
        </p:blipFill>
        <p:spPr>
          <a:xfrm>
            <a:off x="6446520" y="1577381"/>
            <a:ext cx="5442986" cy="4891957"/>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F6B35"/>
          </a:solidFill>
          <a:ln/>
        </p:spPr>
      </p:sp>
      <p:pic>
        <p:nvPicPr>
          <p:cNvPr id="3"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4" name="Text 1"/>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1A1A1A"/>
                </a:solidFill>
                <a:latin typeface="Cambria" pitchFamily="34" charset="0"/>
                <a:ea typeface="Cambria" pitchFamily="34" charset="-122"/>
                <a:cs typeface="Cambria" pitchFamily="34" charset="-120"/>
              </a:rPr>
              <a:t>Key Findings</a:t>
            </a:r>
            <a:endParaRPr lang="en-US" sz="3000" dirty="0"/>
          </a:p>
        </p:txBody>
      </p:sp>
      <p:sp>
        <p:nvSpPr>
          <p:cNvPr id="5" name="Shape 2"/>
          <p:cNvSpPr/>
          <p:nvPr/>
        </p:nvSpPr>
        <p:spPr>
          <a:xfrm>
            <a:off x="640080" y="1691640"/>
            <a:ext cx="502920" cy="502920"/>
          </a:xfrm>
          <a:prstGeom prst="ellipse">
            <a:avLst/>
          </a:prstGeom>
          <a:solidFill>
            <a:srgbClr val="FF6B35"/>
          </a:solidFill>
          <a:ln/>
        </p:spPr>
      </p:sp>
      <p:pic>
        <p:nvPicPr>
          <p:cNvPr id="6" name="Image 1" descr="preencoded.png"/>
          <p:cNvPicPr>
            <a:picLocks noChangeAspect="1"/>
          </p:cNvPicPr>
          <p:nvPr/>
        </p:nvPicPr>
        <p:blipFill>
          <a:blip r:embed="rId4"/>
          <a:stretch>
            <a:fillRect/>
          </a:stretch>
        </p:blipFill>
        <p:spPr>
          <a:xfrm>
            <a:off x="750722" y="1802282"/>
            <a:ext cx="281635" cy="281635"/>
          </a:xfrm>
          <a:prstGeom prst="rect">
            <a:avLst/>
          </a:prstGeom>
        </p:spPr>
      </p:pic>
      <p:sp>
        <p:nvSpPr>
          <p:cNvPr id="7" name="Text 3"/>
          <p:cNvSpPr/>
          <p:nvPr/>
        </p:nvSpPr>
        <p:spPr>
          <a:xfrm>
            <a:off x="1344168" y="1664208"/>
            <a:ext cx="10207447"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Faster Delivery Improves Ratings</a:t>
            </a:r>
            <a:endParaRPr lang="en-US" sz="1450" dirty="0"/>
          </a:p>
        </p:txBody>
      </p:sp>
      <p:sp>
        <p:nvSpPr>
          <p:cNvPr id="8" name="Text 4"/>
          <p:cNvSpPr/>
          <p:nvPr/>
        </p:nvSpPr>
        <p:spPr>
          <a:xfrm>
            <a:off x="1344168" y="1938528"/>
            <a:ext cx="10207447"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Restaurants with shorter delivery times consistently receive higher customer ratings.</a:t>
            </a:r>
            <a:endParaRPr lang="en-US" sz="1150" dirty="0"/>
          </a:p>
        </p:txBody>
      </p:sp>
      <p:sp>
        <p:nvSpPr>
          <p:cNvPr id="9" name="Shape 5"/>
          <p:cNvSpPr/>
          <p:nvPr/>
        </p:nvSpPr>
        <p:spPr>
          <a:xfrm>
            <a:off x="365760" y="2633472"/>
            <a:ext cx="11460175" cy="1051560"/>
          </a:xfrm>
          <a:prstGeom prst="rect">
            <a:avLst/>
          </a:prstGeom>
          <a:solidFill>
            <a:srgbClr val="F1EDE6"/>
          </a:solidFill>
          <a:ln/>
        </p:spPr>
      </p:sp>
      <p:sp>
        <p:nvSpPr>
          <p:cNvPr id="10" name="Shape 6"/>
          <p:cNvSpPr/>
          <p:nvPr/>
        </p:nvSpPr>
        <p:spPr>
          <a:xfrm>
            <a:off x="640080" y="2743200"/>
            <a:ext cx="502920" cy="502920"/>
          </a:xfrm>
          <a:prstGeom prst="ellipse">
            <a:avLst/>
          </a:prstGeom>
          <a:solidFill>
            <a:srgbClr val="FF6B35"/>
          </a:solidFill>
          <a:ln/>
        </p:spPr>
      </p:sp>
      <p:pic>
        <p:nvPicPr>
          <p:cNvPr id="11" name="Image 2" descr="preencoded.png"/>
          <p:cNvPicPr>
            <a:picLocks noChangeAspect="1"/>
          </p:cNvPicPr>
          <p:nvPr/>
        </p:nvPicPr>
        <p:blipFill>
          <a:blip r:embed="rId5"/>
          <a:stretch>
            <a:fillRect/>
          </a:stretch>
        </p:blipFill>
        <p:spPr>
          <a:xfrm>
            <a:off x="750722" y="2853842"/>
            <a:ext cx="281635" cy="281635"/>
          </a:xfrm>
          <a:prstGeom prst="rect">
            <a:avLst/>
          </a:prstGeom>
        </p:spPr>
      </p:pic>
      <p:sp>
        <p:nvSpPr>
          <p:cNvPr id="12" name="Text 7"/>
          <p:cNvSpPr/>
          <p:nvPr/>
        </p:nvSpPr>
        <p:spPr>
          <a:xfrm>
            <a:off x="1344168" y="2715768"/>
            <a:ext cx="10207447"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Major Cities Drive Order Volume</a:t>
            </a:r>
            <a:endParaRPr lang="en-US" sz="1450" dirty="0"/>
          </a:p>
        </p:txBody>
      </p:sp>
      <p:sp>
        <p:nvSpPr>
          <p:cNvPr id="13" name="Text 8"/>
          <p:cNvSpPr/>
          <p:nvPr/>
        </p:nvSpPr>
        <p:spPr>
          <a:xfrm>
            <a:off x="1344168" y="2990088"/>
            <a:ext cx="10207447"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Larger cities generate a disproportionate share of total orders.</a:t>
            </a:r>
            <a:endParaRPr lang="en-US" sz="1150" dirty="0"/>
          </a:p>
        </p:txBody>
      </p:sp>
      <p:sp>
        <p:nvSpPr>
          <p:cNvPr id="14" name="Shape 9"/>
          <p:cNvSpPr/>
          <p:nvPr/>
        </p:nvSpPr>
        <p:spPr>
          <a:xfrm>
            <a:off x="640080" y="3794760"/>
            <a:ext cx="502920" cy="502920"/>
          </a:xfrm>
          <a:prstGeom prst="ellipse">
            <a:avLst/>
          </a:prstGeom>
          <a:solidFill>
            <a:srgbClr val="FF6B35"/>
          </a:solidFill>
          <a:ln/>
        </p:spPr>
      </p:sp>
      <p:pic>
        <p:nvPicPr>
          <p:cNvPr id="15" name="Image 3" descr="preencoded.png"/>
          <p:cNvPicPr>
            <a:picLocks noChangeAspect="1"/>
          </p:cNvPicPr>
          <p:nvPr/>
        </p:nvPicPr>
        <p:blipFill>
          <a:blip r:embed="rId6"/>
          <a:stretch>
            <a:fillRect/>
          </a:stretch>
        </p:blipFill>
        <p:spPr>
          <a:xfrm>
            <a:off x="750722" y="3905402"/>
            <a:ext cx="281635" cy="281635"/>
          </a:xfrm>
          <a:prstGeom prst="rect">
            <a:avLst/>
          </a:prstGeom>
        </p:spPr>
      </p:pic>
      <p:sp>
        <p:nvSpPr>
          <p:cNvPr id="16" name="Text 10"/>
          <p:cNvSpPr/>
          <p:nvPr/>
        </p:nvSpPr>
        <p:spPr>
          <a:xfrm>
            <a:off x="1344168" y="3767328"/>
            <a:ext cx="10207447"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Popular Cuisines Attract More Customers</a:t>
            </a:r>
            <a:endParaRPr lang="en-US" sz="1450" dirty="0"/>
          </a:p>
        </p:txBody>
      </p:sp>
      <p:sp>
        <p:nvSpPr>
          <p:cNvPr id="17" name="Text 11"/>
          <p:cNvSpPr/>
          <p:nvPr/>
        </p:nvSpPr>
        <p:spPr>
          <a:xfrm>
            <a:off x="1344168" y="4041648"/>
            <a:ext cx="10207447"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Certain cuisines consistently draw higher order counts across cities.</a:t>
            </a:r>
            <a:endParaRPr lang="en-US" sz="1150" dirty="0"/>
          </a:p>
        </p:txBody>
      </p:sp>
      <p:sp>
        <p:nvSpPr>
          <p:cNvPr id="18" name="Shape 12"/>
          <p:cNvSpPr/>
          <p:nvPr/>
        </p:nvSpPr>
        <p:spPr>
          <a:xfrm>
            <a:off x="365760" y="4736592"/>
            <a:ext cx="11460175" cy="1051560"/>
          </a:xfrm>
          <a:prstGeom prst="rect">
            <a:avLst/>
          </a:prstGeom>
          <a:solidFill>
            <a:srgbClr val="F1EDE6"/>
          </a:solidFill>
          <a:ln/>
        </p:spPr>
      </p:sp>
      <p:sp>
        <p:nvSpPr>
          <p:cNvPr id="19" name="Shape 13"/>
          <p:cNvSpPr/>
          <p:nvPr/>
        </p:nvSpPr>
        <p:spPr>
          <a:xfrm>
            <a:off x="640080" y="4846320"/>
            <a:ext cx="502920" cy="502920"/>
          </a:xfrm>
          <a:prstGeom prst="ellipse">
            <a:avLst/>
          </a:prstGeom>
          <a:solidFill>
            <a:srgbClr val="FF6B35"/>
          </a:solidFill>
          <a:ln/>
        </p:spPr>
      </p:sp>
      <p:pic>
        <p:nvPicPr>
          <p:cNvPr id="20" name="Image 4" descr="preencoded.png"/>
          <p:cNvPicPr>
            <a:picLocks noChangeAspect="1"/>
          </p:cNvPicPr>
          <p:nvPr/>
        </p:nvPicPr>
        <p:blipFill>
          <a:blip r:embed="rId7"/>
          <a:stretch>
            <a:fillRect/>
          </a:stretch>
        </p:blipFill>
        <p:spPr>
          <a:xfrm>
            <a:off x="750722" y="4956962"/>
            <a:ext cx="281635" cy="281635"/>
          </a:xfrm>
          <a:prstGeom prst="rect">
            <a:avLst/>
          </a:prstGeom>
        </p:spPr>
      </p:pic>
      <p:sp>
        <p:nvSpPr>
          <p:cNvPr id="21" name="Text 14"/>
          <p:cNvSpPr/>
          <p:nvPr/>
        </p:nvSpPr>
        <p:spPr>
          <a:xfrm>
            <a:off x="1344168" y="4818888"/>
            <a:ext cx="10207447"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Delivery Efficiency Shapes Satisfaction</a:t>
            </a:r>
            <a:endParaRPr lang="en-US" sz="1450" dirty="0"/>
          </a:p>
        </p:txBody>
      </p:sp>
      <p:sp>
        <p:nvSpPr>
          <p:cNvPr id="22" name="Text 15"/>
          <p:cNvSpPr/>
          <p:nvPr/>
        </p:nvSpPr>
        <p:spPr>
          <a:xfrm>
            <a:off x="1344168" y="5093208"/>
            <a:ext cx="10207447"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Delivery speed has a direct, measurable impact on customer satisfaction.</a:t>
            </a:r>
            <a:endParaRPr lang="en-US" sz="1150" dirty="0"/>
          </a:p>
        </p:txBody>
      </p:sp>
      <p:sp>
        <p:nvSpPr>
          <p:cNvPr id="23" name="Text 16"/>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A66"/>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24" name="Text 17"/>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6A6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F6B35"/>
          </a:solidFill>
          <a:ln/>
        </p:spPr>
      </p:sp>
      <p:pic>
        <p:nvPicPr>
          <p:cNvPr id="3"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4" name="Text 1"/>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1A1A1A"/>
                </a:solidFill>
                <a:latin typeface="Cambria" pitchFamily="34" charset="0"/>
                <a:ea typeface="Cambria" pitchFamily="34" charset="-122"/>
                <a:cs typeface="Cambria" pitchFamily="34" charset="-120"/>
              </a:rPr>
              <a:t>Recommendations</a:t>
            </a:r>
            <a:endParaRPr lang="en-US" sz="3000" dirty="0"/>
          </a:p>
        </p:txBody>
      </p:sp>
      <p:sp>
        <p:nvSpPr>
          <p:cNvPr id="5" name="Shape 2"/>
          <p:cNvSpPr/>
          <p:nvPr/>
        </p:nvSpPr>
        <p:spPr>
          <a:xfrm>
            <a:off x="548640" y="1737360"/>
            <a:ext cx="5349240" cy="1965960"/>
          </a:xfrm>
          <a:prstGeom prst="roundRect">
            <a:avLst>
              <a:gd name="adj" fmla="val 4186"/>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6" name="Shape 3"/>
          <p:cNvSpPr/>
          <p:nvPr/>
        </p:nvSpPr>
        <p:spPr>
          <a:xfrm>
            <a:off x="822960" y="2011680"/>
            <a:ext cx="548640" cy="548640"/>
          </a:xfrm>
          <a:prstGeom prst="ellipse">
            <a:avLst/>
          </a:prstGeom>
          <a:solidFill>
            <a:srgbClr val="FF6B35"/>
          </a:solidFill>
          <a:ln/>
        </p:spPr>
      </p:sp>
      <p:pic>
        <p:nvPicPr>
          <p:cNvPr id="7" name="Image 1" descr="preencoded.png"/>
          <p:cNvPicPr>
            <a:picLocks noChangeAspect="1"/>
          </p:cNvPicPr>
          <p:nvPr/>
        </p:nvPicPr>
        <p:blipFill>
          <a:blip r:embed="rId4"/>
          <a:stretch>
            <a:fillRect/>
          </a:stretch>
        </p:blipFill>
        <p:spPr>
          <a:xfrm>
            <a:off x="943661" y="2132381"/>
            <a:ext cx="307238" cy="307238"/>
          </a:xfrm>
          <a:prstGeom prst="rect">
            <a:avLst/>
          </a:prstGeom>
        </p:spPr>
      </p:pic>
      <p:sp>
        <p:nvSpPr>
          <p:cNvPr id="8" name="Text 4"/>
          <p:cNvSpPr/>
          <p:nvPr/>
        </p:nvSpPr>
        <p:spPr>
          <a:xfrm>
            <a:off x="1554480" y="1993392"/>
            <a:ext cx="4069080" cy="365760"/>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Reduce Delivery Delays</a:t>
            </a:r>
            <a:endParaRPr lang="en-US" sz="1450" dirty="0"/>
          </a:p>
        </p:txBody>
      </p:sp>
      <p:sp>
        <p:nvSpPr>
          <p:cNvPr id="9" name="Text 5"/>
          <p:cNvSpPr/>
          <p:nvPr/>
        </p:nvSpPr>
        <p:spPr>
          <a:xfrm>
            <a:off x="822960" y="2651760"/>
            <a:ext cx="4800600" cy="914400"/>
          </a:xfrm>
          <a:prstGeom prst="rect">
            <a:avLst/>
          </a:prstGeom>
          <a:noFill/>
          <a:ln/>
        </p:spPr>
        <p:txBody>
          <a:bodyPr wrap="square" rtlCol="0" anchor="t"/>
          <a:lstStyle/>
          <a:p>
            <a:pPr marL="0" indent="0" algn="l">
              <a:lnSpc>
                <a:spcPct val="130000"/>
              </a:lnSpc>
              <a:buNone/>
            </a:pPr>
            <a:r>
              <a:rPr lang="en-US" sz="1200" dirty="0">
                <a:solidFill>
                  <a:srgbClr val="6E6A66"/>
                </a:solidFill>
                <a:latin typeface="Calibri" pitchFamily="34" charset="0"/>
                <a:ea typeface="Calibri" pitchFamily="34" charset="-122"/>
                <a:cs typeface="Calibri" pitchFamily="34" charset="-120"/>
              </a:rPr>
              <a:t>Add rider hubs in high-demand zones to cut average delivery time.</a:t>
            </a:r>
            <a:endParaRPr lang="en-US" sz="1200" dirty="0"/>
          </a:p>
        </p:txBody>
      </p:sp>
      <p:sp>
        <p:nvSpPr>
          <p:cNvPr id="10" name="Shape 6"/>
          <p:cNvSpPr/>
          <p:nvPr/>
        </p:nvSpPr>
        <p:spPr>
          <a:xfrm>
            <a:off x="6172200" y="1737360"/>
            <a:ext cx="5349240" cy="1965960"/>
          </a:xfrm>
          <a:prstGeom prst="roundRect">
            <a:avLst>
              <a:gd name="adj" fmla="val 4186"/>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11" name="Shape 7"/>
          <p:cNvSpPr/>
          <p:nvPr/>
        </p:nvSpPr>
        <p:spPr>
          <a:xfrm>
            <a:off x="6446520" y="2011680"/>
            <a:ext cx="548640" cy="548640"/>
          </a:xfrm>
          <a:prstGeom prst="ellipse">
            <a:avLst/>
          </a:prstGeom>
          <a:solidFill>
            <a:srgbClr val="FF6B35"/>
          </a:solidFill>
          <a:ln/>
        </p:spPr>
      </p:sp>
      <p:pic>
        <p:nvPicPr>
          <p:cNvPr id="12" name="Image 2" descr="preencoded.png"/>
          <p:cNvPicPr>
            <a:picLocks noChangeAspect="1"/>
          </p:cNvPicPr>
          <p:nvPr/>
        </p:nvPicPr>
        <p:blipFill>
          <a:blip r:embed="rId5"/>
          <a:stretch>
            <a:fillRect/>
          </a:stretch>
        </p:blipFill>
        <p:spPr>
          <a:xfrm>
            <a:off x="6567221" y="2132381"/>
            <a:ext cx="307238" cy="307238"/>
          </a:xfrm>
          <a:prstGeom prst="rect">
            <a:avLst/>
          </a:prstGeom>
        </p:spPr>
      </p:pic>
      <p:sp>
        <p:nvSpPr>
          <p:cNvPr id="13" name="Text 8"/>
          <p:cNvSpPr/>
          <p:nvPr/>
        </p:nvSpPr>
        <p:spPr>
          <a:xfrm>
            <a:off x="7178040" y="1993392"/>
            <a:ext cx="4069080" cy="365760"/>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Promote Top-Rated Restaurants</a:t>
            </a:r>
            <a:endParaRPr lang="en-US" sz="1450" dirty="0"/>
          </a:p>
        </p:txBody>
      </p:sp>
      <p:sp>
        <p:nvSpPr>
          <p:cNvPr id="14" name="Text 9"/>
          <p:cNvSpPr/>
          <p:nvPr/>
        </p:nvSpPr>
        <p:spPr>
          <a:xfrm>
            <a:off x="6446520" y="2651760"/>
            <a:ext cx="4800600" cy="914400"/>
          </a:xfrm>
          <a:prstGeom prst="rect">
            <a:avLst/>
          </a:prstGeom>
          <a:noFill/>
          <a:ln/>
        </p:spPr>
        <p:txBody>
          <a:bodyPr wrap="square" rtlCol="0" anchor="t"/>
          <a:lstStyle/>
          <a:p>
            <a:pPr marL="0" indent="0" algn="l">
              <a:lnSpc>
                <a:spcPct val="130000"/>
              </a:lnSpc>
              <a:buNone/>
            </a:pPr>
            <a:r>
              <a:rPr lang="en-US" sz="1200" dirty="0">
                <a:solidFill>
                  <a:srgbClr val="6E6A66"/>
                </a:solidFill>
                <a:latin typeface="Calibri" pitchFamily="34" charset="0"/>
                <a:ea typeface="Calibri" pitchFamily="34" charset="-122"/>
                <a:cs typeface="Calibri" pitchFamily="34" charset="-120"/>
              </a:rPr>
              <a:t>Give high performers more visibility to boost order value.</a:t>
            </a:r>
            <a:endParaRPr lang="en-US" sz="1200" dirty="0"/>
          </a:p>
        </p:txBody>
      </p:sp>
      <p:sp>
        <p:nvSpPr>
          <p:cNvPr id="15" name="Shape 10"/>
          <p:cNvSpPr/>
          <p:nvPr/>
        </p:nvSpPr>
        <p:spPr>
          <a:xfrm>
            <a:off x="548640" y="3977640"/>
            <a:ext cx="5349240" cy="1965960"/>
          </a:xfrm>
          <a:prstGeom prst="roundRect">
            <a:avLst>
              <a:gd name="adj" fmla="val 4186"/>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16" name="Shape 11"/>
          <p:cNvSpPr/>
          <p:nvPr/>
        </p:nvSpPr>
        <p:spPr>
          <a:xfrm>
            <a:off x="822960" y="4251960"/>
            <a:ext cx="548640" cy="548640"/>
          </a:xfrm>
          <a:prstGeom prst="ellipse">
            <a:avLst/>
          </a:prstGeom>
          <a:solidFill>
            <a:srgbClr val="FF6B35"/>
          </a:solidFill>
          <a:ln/>
        </p:spPr>
      </p:sp>
      <p:pic>
        <p:nvPicPr>
          <p:cNvPr id="17" name="Image 3" descr="preencoded.png"/>
          <p:cNvPicPr>
            <a:picLocks noChangeAspect="1"/>
          </p:cNvPicPr>
          <p:nvPr/>
        </p:nvPicPr>
        <p:blipFill>
          <a:blip r:embed="rId6"/>
          <a:stretch>
            <a:fillRect/>
          </a:stretch>
        </p:blipFill>
        <p:spPr>
          <a:xfrm>
            <a:off x="943661" y="4372661"/>
            <a:ext cx="307238" cy="307238"/>
          </a:xfrm>
          <a:prstGeom prst="rect">
            <a:avLst/>
          </a:prstGeom>
        </p:spPr>
      </p:pic>
      <p:sp>
        <p:nvSpPr>
          <p:cNvPr id="18" name="Text 12"/>
          <p:cNvSpPr/>
          <p:nvPr/>
        </p:nvSpPr>
        <p:spPr>
          <a:xfrm>
            <a:off x="1554480" y="4233672"/>
            <a:ext cx="4069080" cy="365760"/>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Improve Delivery Planning</a:t>
            </a:r>
            <a:endParaRPr lang="en-US" sz="1450" dirty="0"/>
          </a:p>
        </p:txBody>
      </p:sp>
      <p:sp>
        <p:nvSpPr>
          <p:cNvPr id="19" name="Text 13"/>
          <p:cNvSpPr/>
          <p:nvPr/>
        </p:nvSpPr>
        <p:spPr>
          <a:xfrm>
            <a:off x="822960" y="4892040"/>
            <a:ext cx="4800600" cy="914400"/>
          </a:xfrm>
          <a:prstGeom prst="rect">
            <a:avLst/>
          </a:prstGeom>
          <a:noFill/>
          <a:ln/>
        </p:spPr>
        <p:txBody>
          <a:bodyPr wrap="square" rtlCol="0" anchor="t"/>
          <a:lstStyle/>
          <a:p>
            <a:pPr marL="0" indent="0" algn="l">
              <a:lnSpc>
                <a:spcPct val="130000"/>
              </a:lnSpc>
              <a:buNone/>
            </a:pPr>
            <a:r>
              <a:rPr lang="en-US" sz="1200" dirty="0">
                <a:solidFill>
                  <a:srgbClr val="6E6A66"/>
                </a:solidFill>
                <a:latin typeface="Calibri" pitchFamily="34" charset="0"/>
                <a:ea typeface="Calibri" pitchFamily="34" charset="-122"/>
                <a:cs typeface="Calibri" pitchFamily="34" charset="-120"/>
              </a:rPr>
              <a:t>Use route and demand data to plan smarter dispatching.</a:t>
            </a:r>
            <a:endParaRPr lang="en-US" sz="1200" dirty="0"/>
          </a:p>
        </p:txBody>
      </p:sp>
      <p:sp>
        <p:nvSpPr>
          <p:cNvPr id="20" name="Shape 14"/>
          <p:cNvSpPr/>
          <p:nvPr/>
        </p:nvSpPr>
        <p:spPr>
          <a:xfrm>
            <a:off x="6172200" y="3977640"/>
            <a:ext cx="5349240" cy="1965960"/>
          </a:xfrm>
          <a:prstGeom prst="roundRect">
            <a:avLst>
              <a:gd name="adj" fmla="val 4186"/>
            </a:avLst>
          </a:prstGeom>
          <a:solidFill>
            <a:srgbClr val="FFFFFF"/>
          </a:solidFill>
          <a:ln w="12700">
            <a:solidFill>
              <a:srgbClr val="E8E4DE"/>
            </a:solidFill>
            <a:prstDash val="solid"/>
          </a:ln>
          <a:effectLst>
            <a:outerShdw blurRad="101600" dist="38100" dir="5400000" algn="bl" rotWithShape="0">
              <a:srgbClr val="000000">
                <a:alpha val="10000"/>
              </a:srgbClr>
            </a:outerShdw>
          </a:effectLst>
        </p:spPr>
      </p:sp>
      <p:sp>
        <p:nvSpPr>
          <p:cNvPr id="21" name="Shape 15"/>
          <p:cNvSpPr/>
          <p:nvPr/>
        </p:nvSpPr>
        <p:spPr>
          <a:xfrm>
            <a:off x="6446520" y="4251960"/>
            <a:ext cx="548640" cy="548640"/>
          </a:xfrm>
          <a:prstGeom prst="ellipse">
            <a:avLst/>
          </a:prstGeom>
          <a:solidFill>
            <a:srgbClr val="FF6B35"/>
          </a:solidFill>
          <a:ln/>
        </p:spPr>
      </p:sp>
      <p:pic>
        <p:nvPicPr>
          <p:cNvPr id="22" name="Image 4" descr="preencoded.png"/>
          <p:cNvPicPr>
            <a:picLocks noChangeAspect="1"/>
          </p:cNvPicPr>
          <p:nvPr/>
        </p:nvPicPr>
        <p:blipFill>
          <a:blip r:embed="rId7"/>
          <a:stretch>
            <a:fillRect/>
          </a:stretch>
        </p:blipFill>
        <p:spPr>
          <a:xfrm>
            <a:off x="6567221" y="4372661"/>
            <a:ext cx="307238" cy="307238"/>
          </a:xfrm>
          <a:prstGeom prst="rect">
            <a:avLst/>
          </a:prstGeom>
        </p:spPr>
      </p:pic>
      <p:sp>
        <p:nvSpPr>
          <p:cNvPr id="23" name="Text 16"/>
          <p:cNvSpPr/>
          <p:nvPr/>
        </p:nvSpPr>
        <p:spPr>
          <a:xfrm>
            <a:off x="7178040" y="4233672"/>
            <a:ext cx="4069080" cy="365760"/>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Expand in Growing Markets</a:t>
            </a:r>
            <a:endParaRPr lang="en-US" sz="1450" dirty="0"/>
          </a:p>
        </p:txBody>
      </p:sp>
      <p:sp>
        <p:nvSpPr>
          <p:cNvPr id="24" name="Text 17"/>
          <p:cNvSpPr/>
          <p:nvPr/>
        </p:nvSpPr>
        <p:spPr>
          <a:xfrm>
            <a:off x="6446520" y="4892040"/>
            <a:ext cx="4800600" cy="914400"/>
          </a:xfrm>
          <a:prstGeom prst="rect">
            <a:avLst/>
          </a:prstGeom>
          <a:noFill/>
          <a:ln/>
        </p:spPr>
        <p:txBody>
          <a:bodyPr wrap="square" rtlCol="0" anchor="t"/>
          <a:lstStyle/>
          <a:p>
            <a:pPr marL="0" indent="0" algn="l">
              <a:lnSpc>
                <a:spcPct val="130000"/>
              </a:lnSpc>
              <a:buNone/>
            </a:pPr>
            <a:r>
              <a:rPr lang="en-US" sz="1200" dirty="0">
                <a:solidFill>
                  <a:srgbClr val="6E6A66"/>
                </a:solidFill>
                <a:latin typeface="Calibri" pitchFamily="34" charset="0"/>
                <a:ea typeface="Calibri" pitchFamily="34" charset="-122"/>
                <a:cs typeface="Calibri" pitchFamily="34" charset="-120"/>
              </a:rPr>
              <a:t>Prioritise emerging cities showing strong growth potential.</a:t>
            </a:r>
            <a:endParaRPr lang="en-US" sz="1200" dirty="0"/>
          </a:p>
        </p:txBody>
      </p:sp>
      <p:sp>
        <p:nvSpPr>
          <p:cNvPr id="25" name="Text 18"/>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A66"/>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26" name="Text 19"/>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6A6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F6B35"/>
          </a:solidFill>
          <a:ln/>
        </p:spPr>
      </p:sp>
      <p:pic>
        <p:nvPicPr>
          <p:cNvPr id="3" name="Image 0" descr="preencoded.png"/>
          <p:cNvPicPr>
            <a:picLocks noChangeAspect="1"/>
          </p:cNvPicPr>
          <p:nvPr/>
        </p:nvPicPr>
        <p:blipFill>
          <a:blip r:embed="rId3"/>
          <a:stretch>
            <a:fillRect/>
          </a:stretch>
        </p:blipFill>
        <p:spPr>
          <a:xfrm>
            <a:off x="673364" y="627644"/>
            <a:ext cx="317480" cy="317480"/>
          </a:xfrm>
          <a:prstGeom prst="rect">
            <a:avLst/>
          </a:prstGeom>
        </p:spPr>
      </p:pic>
      <p:sp>
        <p:nvSpPr>
          <p:cNvPr id="4" name="Text 1"/>
          <p:cNvSpPr/>
          <p:nvPr/>
        </p:nvSpPr>
        <p:spPr>
          <a:xfrm>
            <a:off x="1234440" y="438912"/>
            <a:ext cx="9601200" cy="685800"/>
          </a:xfrm>
          <a:prstGeom prst="rect">
            <a:avLst/>
          </a:prstGeom>
          <a:noFill/>
          <a:ln/>
        </p:spPr>
        <p:txBody>
          <a:bodyPr wrap="square" rtlCol="0" anchor="ctr"/>
          <a:lstStyle/>
          <a:p>
            <a:pPr marL="0" indent="0" algn="l">
              <a:buNone/>
            </a:pPr>
            <a:r>
              <a:rPr lang="en-US" sz="3000" b="1" dirty="0">
                <a:solidFill>
                  <a:srgbClr val="1A1A1A"/>
                </a:solidFill>
                <a:latin typeface="Cambria" pitchFamily="34" charset="0"/>
                <a:ea typeface="Cambria" pitchFamily="34" charset="-122"/>
                <a:cs typeface="Cambria" pitchFamily="34" charset="-120"/>
              </a:rPr>
              <a:t>Conclusion &amp; Future Scope</a:t>
            </a:r>
            <a:endParaRPr lang="en-US" sz="3000" dirty="0"/>
          </a:p>
        </p:txBody>
      </p:sp>
      <p:sp>
        <p:nvSpPr>
          <p:cNvPr id="5" name="Shape 2"/>
          <p:cNvSpPr/>
          <p:nvPr/>
        </p:nvSpPr>
        <p:spPr>
          <a:xfrm>
            <a:off x="640080" y="1783080"/>
            <a:ext cx="548640" cy="548640"/>
          </a:xfrm>
          <a:prstGeom prst="ellipse">
            <a:avLst/>
          </a:prstGeom>
          <a:solidFill>
            <a:srgbClr val="FF6B35"/>
          </a:solidFill>
          <a:ln/>
        </p:spPr>
      </p:sp>
      <p:pic>
        <p:nvPicPr>
          <p:cNvPr id="6" name="Image 1" descr="preencoded.png"/>
          <p:cNvPicPr>
            <a:picLocks noChangeAspect="1"/>
          </p:cNvPicPr>
          <p:nvPr/>
        </p:nvPicPr>
        <p:blipFill>
          <a:blip r:embed="rId4"/>
          <a:stretch>
            <a:fillRect/>
          </a:stretch>
        </p:blipFill>
        <p:spPr>
          <a:xfrm>
            <a:off x="760781" y="1903781"/>
            <a:ext cx="307238" cy="307238"/>
          </a:xfrm>
          <a:prstGeom prst="rect">
            <a:avLst/>
          </a:prstGeom>
        </p:spPr>
      </p:pic>
      <p:sp>
        <p:nvSpPr>
          <p:cNvPr id="7" name="Text 3"/>
          <p:cNvSpPr/>
          <p:nvPr/>
        </p:nvSpPr>
        <p:spPr>
          <a:xfrm>
            <a:off x="1389888" y="1755648"/>
            <a:ext cx="10161727"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Project Summary</a:t>
            </a:r>
            <a:endParaRPr lang="en-US" sz="1450" dirty="0"/>
          </a:p>
        </p:txBody>
      </p:sp>
      <p:sp>
        <p:nvSpPr>
          <p:cNvPr id="8" name="Text 4"/>
          <p:cNvSpPr/>
          <p:nvPr/>
        </p:nvSpPr>
        <p:spPr>
          <a:xfrm>
            <a:off x="1389888" y="2029968"/>
            <a:ext cx="10161727"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This dashboard turns raw restaurant and delivery data into a clear, interactive tool for exploring performance across cities, cuisines, and customers.</a:t>
            </a:r>
            <a:endParaRPr lang="en-US" sz="1150" dirty="0"/>
          </a:p>
        </p:txBody>
      </p:sp>
      <p:sp>
        <p:nvSpPr>
          <p:cNvPr id="9" name="Shape 5"/>
          <p:cNvSpPr/>
          <p:nvPr/>
        </p:nvSpPr>
        <p:spPr>
          <a:xfrm>
            <a:off x="640080" y="3291840"/>
            <a:ext cx="548640" cy="548640"/>
          </a:xfrm>
          <a:prstGeom prst="ellipse">
            <a:avLst/>
          </a:prstGeom>
          <a:solidFill>
            <a:srgbClr val="FF6B35"/>
          </a:solidFill>
          <a:ln/>
        </p:spPr>
      </p:sp>
      <p:pic>
        <p:nvPicPr>
          <p:cNvPr id="10" name="Image 2" descr="preencoded.png"/>
          <p:cNvPicPr>
            <a:picLocks noChangeAspect="1"/>
          </p:cNvPicPr>
          <p:nvPr/>
        </p:nvPicPr>
        <p:blipFill>
          <a:blip r:embed="rId5"/>
          <a:stretch>
            <a:fillRect/>
          </a:stretch>
        </p:blipFill>
        <p:spPr>
          <a:xfrm>
            <a:off x="760781" y="3412541"/>
            <a:ext cx="307238" cy="307238"/>
          </a:xfrm>
          <a:prstGeom prst="rect">
            <a:avLst/>
          </a:prstGeom>
        </p:spPr>
      </p:pic>
      <p:sp>
        <p:nvSpPr>
          <p:cNvPr id="11" name="Text 6"/>
          <p:cNvSpPr/>
          <p:nvPr/>
        </p:nvSpPr>
        <p:spPr>
          <a:xfrm>
            <a:off x="1389888" y="3264408"/>
            <a:ext cx="10161727"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Business Benefits</a:t>
            </a:r>
            <a:endParaRPr lang="en-US" sz="1450" dirty="0"/>
          </a:p>
        </p:txBody>
      </p:sp>
      <p:sp>
        <p:nvSpPr>
          <p:cNvPr id="12" name="Text 7"/>
          <p:cNvSpPr/>
          <p:nvPr/>
        </p:nvSpPr>
        <p:spPr>
          <a:xfrm>
            <a:off x="1389888" y="3538728"/>
            <a:ext cx="10161727"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Faster, data-backed decisions on delivery planning, restaurant promotion, and market expansion.</a:t>
            </a:r>
            <a:endParaRPr lang="en-US" sz="1150" dirty="0"/>
          </a:p>
        </p:txBody>
      </p:sp>
      <p:sp>
        <p:nvSpPr>
          <p:cNvPr id="13" name="Shape 8"/>
          <p:cNvSpPr/>
          <p:nvPr/>
        </p:nvSpPr>
        <p:spPr>
          <a:xfrm>
            <a:off x="640080" y="4800600"/>
            <a:ext cx="548640" cy="548640"/>
          </a:xfrm>
          <a:prstGeom prst="ellipse">
            <a:avLst/>
          </a:prstGeom>
          <a:solidFill>
            <a:srgbClr val="FF6B35"/>
          </a:solidFill>
          <a:ln/>
        </p:spPr>
      </p:sp>
      <p:pic>
        <p:nvPicPr>
          <p:cNvPr id="14" name="Image 3" descr="preencoded.png"/>
          <p:cNvPicPr>
            <a:picLocks noChangeAspect="1"/>
          </p:cNvPicPr>
          <p:nvPr/>
        </p:nvPicPr>
        <p:blipFill>
          <a:blip r:embed="rId3"/>
          <a:stretch>
            <a:fillRect/>
          </a:stretch>
        </p:blipFill>
        <p:spPr>
          <a:xfrm>
            <a:off x="760781" y="4921301"/>
            <a:ext cx="307238" cy="307238"/>
          </a:xfrm>
          <a:prstGeom prst="rect">
            <a:avLst/>
          </a:prstGeom>
        </p:spPr>
      </p:pic>
      <p:sp>
        <p:nvSpPr>
          <p:cNvPr id="15" name="Text 9"/>
          <p:cNvSpPr/>
          <p:nvPr/>
        </p:nvSpPr>
        <p:spPr>
          <a:xfrm>
            <a:off x="1389888" y="4773168"/>
            <a:ext cx="10161727" cy="292608"/>
          </a:xfrm>
          <a:prstGeom prst="rect">
            <a:avLst/>
          </a:prstGeom>
          <a:noFill/>
          <a:ln/>
        </p:spPr>
        <p:txBody>
          <a:bodyPr wrap="square" rtlCol="0" anchor="t"/>
          <a:lstStyle/>
          <a:p>
            <a:pPr marL="0" indent="0" algn="l">
              <a:buNone/>
            </a:pPr>
            <a:r>
              <a:rPr lang="en-US" sz="1450" b="1" dirty="0">
                <a:solidFill>
                  <a:srgbClr val="1A1A1A"/>
                </a:solidFill>
                <a:latin typeface="Calibri" pitchFamily="34" charset="0"/>
                <a:ea typeface="Calibri" pitchFamily="34" charset="-122"/>
                <a:cs typeface="Calibri" pitchFamily="34" charset="-120"/>
              </a:rPr>
              <a:t>Future Enhancements</a:t>
            </a:r>
            <a:endParaRPr lang="en-US" sz="1450" dirty="0"/>
          </a:p>
        </p:txBody>
      </p:sp>
      <p:sp>
        <p:nvSpPr>
          <p:cNvPr id="16" name="Text 10"/>
          <p:cNvSpPr/>
          <p:nvPr/>
        </p:nvSpPr>
        <p:spPr>
          <a:xfrm>
            <a:off x="1389888" y="5047488"/>
            <a:ext cx="10161727" cy="566928"/>
          </a:xfrm>
          <a:prstGeom prst="rect">
            <a:avLst/>
          </a:prstGeom>
          <a:noFill/>
          <a:ln/>
        </p:spPr>
        <p:txBody>
          <a:bodyPr wrap="square" rtlCol="0" anchor="t"/>
          <a:lstStyle/>
          <a:p>
            <a:pPr marL="0" indent="0" algn="l">
              <a:lnSpc>
                <a:spcPct val="110000"/>
              </a:lnSpc>
              <a:buNone/>
            </a:pPr>
            <a:r>
              <a:rPr lang="en-US" sz="1150" dirty="0">
                <a:solidFill>
                  <a:srgbClr val="6E6A66"/>
                </a:solidFill>
                <a:latin typeface="Calibri" pitchFamily="34" charset="0"/>
                <a:ea typeface="Calibri" pitchFamily="34" charset="-122"/>
                <a:cs typeface="Calibri" pitchFamily="34" charset="-120"/>
              </a:rPr>
              <a:t>Real-time data feeds, predictive delivery-time modelling, and expanded city and restaurant coverage.</a:t>
            </a:r>
            <a:endParaRPr lang="en-US" sz="1150" dirty="0"/>
          </a:p>
        </p:txBody>
      </p:sp>
      <p:sp>
        <p:nvSpPr>
          <p:cNvPr id="17" name="Text 11"/>
          <p:cNvSpPr/>
          <p:nvPr/>
        </p:nvSpPr>
        <p:spPr>
          <a:xfrm>
            <a:off x="548640" y="6473952"/>
            <a:ext cx="7315200" cy="274320"/>
          </a:xfrm>
          <a:prstGeom prst="rect">
            <a:avLst/>
          </a:prstGeom>
          <a:noFill/>
          <a:ln/>
        </p:spPr>
        <p:txBody>
          <a:bodyPr wrap="square" rtlCol="0" anchor="ctr"/>
          <a:lstStyle/>
          <a:p>
            <a:pPr marL="0" indent="0" algn="l">
              <a:buNone/>
            </a:pPr>
            <a:r>
              <a:rPr lang="en-US" sz="900" dirty="0">
                <a:solidFill>
                  <a:srgbClr val="6E6A66"/>
                </a:solidFill>
                <a:latin typeface="Calibri" pitchFamily="34" charset="0"/>
                <a:ea typeface="Calibri" pitchFamily="34" charset="-122"/>
                <a:cs typeface="Calibri" pitchFamily="34" charset="-120"/>
              </a:rPr>
              <a:t>Smart Food Delivery &amp; Restaurant Insight Dashboard</a:t>
            </a:r>
            <a:endParaRPr lang="en-US" sz="900" dirty="0"/>
          </a:p>
        </p:txBody>
      </p:sp>
      <p:sp>
        <p:nvSpPr>
          <p:cNvPr id="18" name="Text 12"/>
          <p:cNvSpPr/>
          <p:nvPr/>
        </p:nvSpPr>
        <p:spPr>
          <a:xfrm>
            <a:off x="11185855" y="6473952"/>
            <a:ext cx="457200" cy="274320"/>
          </a:xfrm>
          <a:prstGeom prst="rect">
            <a:avLst/>
          </a:prstGeom>
          <a:noFill/>
          <a:ln/>
        </p:spPr>
        <p:txBody>
          <a:bodyPr wrap="square" rtlCol="0" anchor="ctr"/>
          <a:lstStyle/>
          <a:p>
            <a:pPr marL="0" indent="0" algn="r">
              <a:buNone/>
            </a:pPr>
            <a:r>
              <a:rPr lang="en-US" sz="900" dirty="0">
                <a:solidFill>
                  <a:srgbClr val="6E6A6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8961120" y="-2377440"/>
            <a:ext cx="5943600" cy="5943600"/>
          </a:xfrm>
          <a:prstGeom prst="ellipse">
            <a:avLst/>
          </a:prstGeom>
          <a:solidFill>
            <a:srgbClr val="E8511F">
              <a:alpha val="18000"/>
            </a:srgbClr>
          </a:solidFill>
          <a:ln/>
        </p:spPr>
      </p:sp>
      <p:sp>
        <p:nvSpPr>
          <p:cNvPr id="3" name="Shape 1"/>
          <p:cNvSpPr/>
          <p:nvPr/>
        </p:nvSpPr>
        <p:spPr>
          <a:xfrm>
            <a:off x="-2194560" y="4389120"/>
            <a:ext cx="5029200" cy="5029200"/>
          </a:xfrm>
          <a:prstGeom prst="ellipse">
            <a:avLst/>
          </a:prstGeom>
          <a:solidFill>
            <a:srgbClr val="FF6B35">
              <a:alpha val="12000"/>
            </a:srgbClr>
          </a:solidFill>
          <a:ln/>
        </p:spPr>
      </p:sp>
      <p:sp>
        <p:nvSpPr>
          <p:cNvPr id="4" name="Shape 2"/>
          <p:cNvSpPr/>
          <p:nvPr/>
        </p:nvSpPr>
        <p:spPr>
          <a:xfrm>
            <a:off x="5684368" y="1965960"/>
            <a:ext cx="822960" cy="822960"/>
          </a:xfrm>
          <a:prstGeom prst="ellipse">
            <a:avLst/>
          </a:prstGeom>
          <a:solidFill>
            <a:srgbClr val="FF6B35"/>
          </a:solidFill>
          <a:ln/>
        </p:spPr>
      </p:sp>
      <p:pic>
        <p:nvPicPr>
          <p:cNvPr id="5" name="Image 0" descr="preencoded.png"/>
          <p:cNvPicPr>
            <a:picLocks noChangeAspect="1"/>
          </p:cNvPicPr>
          <p:nvPr/>
        </p:nvPicPr>
        <p:blipFill>
          <a:blip r:embed="rId3"/>
          <a:stretch>
            <a:fillRect/>
          </a:stretch>
        </p:blipFill>
        <p:spPr>
          <a:xfrm>
            <a:off x="5865419" y="2147011"/>
            <a:ext cx="460858" cy="460858"/>
          </a:xfrm>
          <a:prstGeom prst="rect">
            <a:avLst/>
          </a:prstGeom>
        </p:spPr>
      </p:pic>
      <p:sp>
        <p:nvSpPr>
          <p:cNvPr id="6" name="Text 3"/>
          <p:cNvSpPr/>
          <p:nvPr/>
        </p:nvSpPr>
        <p:spPr>
          <a:xfrm>
            <a:off x="0" y="3063240"/>
            <a:ext cx="12191695" cy="91440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7" name="Text 4"/>
          <p:cNvSpPr/>
          <p:nvPr/>
        </p:nvSpPr>
        <p:spPr>
          <a:xfrm>
            <a:off x="0" y="3977640"/>
            <a:ext cx="12191695" cy="457200"/>
          </a:xfrm>
          <a:prstGeom prst="rect">
            <a:avLst/>
          </a:prstGeom>
          <a:noFill/>
          <a:ln/>
        </p:spPr>
        <p:txBody>
          <a:bodyPr wrap="square" rtlCol="0" anchor="ctr"/>
          <a:lstStyle/>
          <a:p>
            <a:pPr marL="0" indent="0" algn="ctr">
              <a:buNone/>
            </a:pPr>
            <a:r>
              <a:rPr lang="en-US" sz="1700" i="1" dirty="0">
                <a:solidFill>
                  <a:srgbClr val="FF6B35"/>
                </a:solidFill>
                <a:latin typeface="Calibri" pitchFamily="34" charset="0"/>
                <a:ea typeface="Calibri" pitchFamily="34" charset="-122"/>
                <a:cs typeface="Calibri" pitchFamily="34" charset="-120"/>
              </a:rPr>
              <a:t>Questions &amp; Answers</a:t>
            </a:r>
            <a:endParaRPr lang="en-US" sz="1700" dirty="0"/>
          </a:p>
        </p:txBody>
      </p:sp>
      <p:sp>
        <p:nvSpPr>
          <p:cNvPr id="8" name="Text 5"/>
          <p:cNvSpPr/>
          <p:nvPr/>
        </p:nvSpPr>
        <p:spPr>
          <a:xfrm>
            <a:off x="731520" y="6172200"/>
            <a:ext cx="10728655" cy="320040"/>
          </a:xfrm>
          <a:prstGeom prst="rect">
            <a:avLst/>
          </a:prstGeom>
          <a:noFill/>
          <a:ln/>
        </p:spPr>
        <p:txBody>
          <a:bodyPr wrap="square" rtlCol="0" anchor="ctr"/>
          <a:lstStyle/>
          <a:p>
            <a:pPr marL="0" indent="0" algn="ctr">
              <a:buNone/>
            </a:pPr>
            <a:r>
              <a:rPr lang="en-US" sz="1050" dirty="0" smtClean="0">
                <a:solidFill>
                  <a:srgbClr val="9A9A9A"/>
                </a:solidFill>
                <a:latin typeface="Calibri" pitchFamily="34" charset="0"/>
                <a:ea typeface="Calibri" pitchFamily="34" charset="-122"/>
                <a:cs typeface="Calibri" pitchFamily="34" charset="-120"/>
              </a:rPr>
              <a:t>                 Smart </a:t>
            </a:r>
            <a:r>
              <a:rPr lang="en-US" sz="1050" dirty="0">
                <a:solidFill>
                  <a:srgbClr val="9A9A9A"/>
                </a:solidFill>
                <a:latin typeface="Calibri" pitchFamily="34" charset="0"/>
                <a:ea typeface="Calibri" pitchFamily="34" charset="-122"/>
                <a:cs typeface="Calibri" pitchFamily="34" charset="-120"/>
              </a:rPr>
              <a:t>Food Delivery &amp; Restaurant Insight Dashboard   </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809</Words>
  <Application>Microsoft Office PowerPoint</Application>
  <PresentationFormat>Custom</PresentationFormat>
  <Paragraphs>179</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lenovo</cp:lastModifiedBy>
  <cp:revision>3</cp:revision>
  <dcterms:created xsi:type="dcterms:W3CDTF">2026-07-18T03:05:19Z</dcterms:created>
  <dcterms:modified xsi:type="dcterms:W3CDTF">2026-07-18T03:27:06Z</dcterms:modified>
</cp:coreProperties>
</file>